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9" r:id="rId1"/>
  </p:sldMasterIdLst>
  <p:notesMasterIdLst>
    <p:notesMasterId r:id="rId37"/>
  </p:notesMasterIdLst>
  <p:handoutMasterIdLst>
    <p:handoutMasterId r:id="rId38"/>
  </p:handoutMasterIdLst>
  <p:sldIdLst>
    <p:sldId id="260" r:id="rId2"/>
    <p:sldId id="261" r:id="rId3"/>
    <p:sldId id="262" r:id="rId4"/>
    <p:sldId id="265" r:id="rId5"/>
    <p:sldId id="266" r:id="rId6"/>
    <p:sldId id="267" r:id="rId7"/>
    <p:sldId id="268" r:id="rId8"/>
    <p:sldId id="270" r:id="rId9"/>
    <p:sldId id="271" r:id="rId10"/>
    <p:sldId id="272" r:id="rId11"/>
    <p:sldId id="275" r:id="rId12"/>
    <p:sldId id="273" r:id="rId13"/>
    <p:sldId id="274" r:id="rId14"/>
    <p:sldId id="277" r:id="rId15"/>
    <p:sldId id="276" r:id="rId16"/>
    <p:sldId id="278" r:id="rId17"/>
    <p:sldId id="279" r:id="rId18"/>
    <p:sldId id="280" r:id="rId19"/>
    <p:sldId id="281" r:id="rId20"/>
    <p:sldId id="282" r:id="rId21"/>
    <p:sldId id="283" r:id="rId22"/>
    <p:sldId id="284" r:id="rId23"/>
    <p:sldId id="269"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B3E34-F28E-4F3A-96EC-43C74A41FE50}" v="169" dt="2026-08-04T13:03:40.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8"/>
  </p:normalViewPr>
  <p:slideViewPr>
    <p:cSldViewPr snapToGrid="0" showGuides="1">
      <p:cViewPr>
        <p:scale>
          <a:sx n="75" d="100"/>
          <a:sy n="75" d="100"/>
        </p:scale>
        <p:origin x="274" y="101"/>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Kumar" userId="2983ceafb002f58d" providerId="LiveId" clId="{C14102EB-CFA4-4ED0-A343-4E851748F2A3}"/>
    <pc:docChg chg="undo custSel addSld delSld modSld sldOrd">
      <pc:chgData name="Harsh Kumar" userId="2983ceafb002f58d" providerId="LiveId" clId="{C14102EB-CFA4-4ED0-A343-4E851748F2A3}" dt="2026-08-04T13:03:48.321" v="5590" actId="20577"/>
      <pc:docMkLst>
        <pc:docMk/>
      </pc:docMkLst>
      <pc:sldChg chg="addSp modSp del mod">
        <pc:chgData name="Harsh Kumar" userId="2983ceafb002f58d" providerId="LiveId" clId="{C14102EB-CFA4-4ED0-A343-4E851748F2A3}" dt="2026-08-04T12:41:13.912" v="5411" actId="2696"/>
        <pc:sldMkLst>
          <pc:docMk/>
          <pc:sldMk cId="1965090795" sldId="263"/>
        </pc:sldMkLst>
        <pc:graphicFrameChg chg="add modGraphic">
          <ac:chgData name="Harsh Kumar" userId="2983ceafb002f58d" providerId="LiveId" clId="{C14102EB-CFA4-4ED0-A343-4E851748F2A3}" dt="2026-08-04T12:01:02.055" v="5304" actId="27309"/>
          <ac:graphicFrameMkLst>
            <pc:docMk/>
            <pc:sldMk cId="1965090795" sldId="263"/>
            <ac:graphicFrameMk id="6" creationId="{B994BDD6-88AE-AAD8-1AB4-9BB3756E7EE0}"/>
          </ac:graphicFrameMkLst>
        </pc:graphicFrameChg>
      </pc:sldChg>
      <pc:sldChg chg="del">
        <pc:chgData name="Harsh Kumar" userId="2983ceafb002f58d" providerId="LiveId" clId="{C14102EB-CFA4-4ED0-A343-4E851748F2A3}" dt="2026-08-04T12:41:27.201" v="5412" actId="2696"/>
        <pc:sldMkLst>
          <pc:docMk/>
          <pc:sldMk cId="2061654187" sldId="264"/>
        </pc:sldMkLst>
      </pc:sldChg>
      <pc:sldChg chg="ord">
        <pc:chgData name="Harsh Kumar" userId="2983ceafb002f58d" providerId="LiveId" clId="{C14102EB-CFA4-4ED0-A343-4E851748F2A3}" dt="2026-08-04T11:17:05.058" v="4255"/>
        <pc:sldMkLst>
          <pc:docMk/>
          <pc:sldMk cId="333665559" sldId="268"/>
        </pc:sldMkLst>
      </pc:sldChg>
      <pc:sldChg chg="addSp delSp modSp new del mod">
        <pc:chgData name="Harsh Kumar" userId="2983ceafb002f58d" providerId="LiveId" clId="{C14102EB-CFA4-4ED0-A343-4E851748F2A3}" dt="2026-08-04T09:13:47.204" v="105" actId="680"/>
        <pc:sldMkLst>
          <pc:docMk/>
          <pc:sldMk cId="2009892451" sldId="269"/>
        </pc:sldMkLst>
        <pc:spChg chg="add del mod">
          <ac:chgData name="Harsh Kumar" userId="2983ceafb002f58d" providerId="LiveId" clId="{C14102EB-CFA4-4ED0-A343-4E851748F2A3}" dt="2026-08-04T09:13:46.582" v="104" actId="20577"/>
          <ac:spMkLst>
            <pc:docMk/>
            <pc:sldMk cId="2009892451" sldId="269"/>
            <ac:spMk id="3" creationId="{16422F83-E7AC-7F9C-6F5D-D66E8A15063C}"/>
          </ac:spMkLst>
        </pc:spChg>
        <pc:spChg chg="add">
          <ac:chgData name="Harsh Kumar" userId="2983ceafb002f58d" providerId="LiveId" clId="{C14102EB-CFA4-4ED0-A343-4E851748F2A3}" dt="2026-08-04T09:13:28.022" v="58"/>
          <ac:spMkLst>
            <pc:docMk/>
            <pc:sldMk cId="2009892451" sldId="269"/>
            <ac:spMk id="7" creationId="{B416E6D0-B98F-5AA9-DF4A-54B42C553351}"/>
          </ac:spMkLst>
        </pc:spChg>
        <pc:graphicFrameChg chg="add mod">
          <ac:chgData name="Harsh Kumar" userId="2983ceafb002f58d" providerId="LiveId" clId="{C14102EB-CFA4-4ED0-A343-4E851748F2A3}" dt="2026-08-04T09:13:33.916" v="59"/>
          <ac:graphicFrameMkLst>
            <pc:docMk/>
            <pc:sldMk cId="2009892451" sldId="269"/>
            <ac:graphicFrameMk id="4" creationId="{4EA1B92F-99D6-A7C5-7A4B-DA36E9A76554}"/>
          </ac:graphicFrameMkLst>
        </pc:graphicFrameChg>
        <pc:graphicFrameChg chg="add mod">
          <ac:chgData name="Harsh Kumar" userId="2983ceafb002f58d" providerId="LiveId" clId="{C14102EB-CFA4-4ED0-A343-4E851748F2A3}" dt="2026-08-04T09:13:28.022" v="58"/>
          <ac:graphicFrameMkLst>
            <pc:docMk/>
            <pc:sldMk cId="2009892451" sldId="269"/>
            <ac:graphicFrameMk id="5" creationId="{18D61773-3657-E205-EDC7-F7A2BFA2A44B}"/>
          </ac:graphicFrameMkLst>
        </pc:graphicFrameChg>
      </pc:sldChg>
      <pc:sldChg chg="addSp delSp modSp new del mod">
        <pc:chgData name="Harsh Kumar" userId="2983ceafb002f58d" providerId="LiveId" clId="{C14102EB-CFA4-4ED0-A343-4E851748F2A3}" dt="2026-08-04T09:14:51.930" v="114" actId="680"/>
        <pc:sldMkLst>
          <pc:docMk/>
          <pc:sldMk cId="2146563331" sldId="269"/>
        </pc:sldMkLst>
        <pc:spChg chg="add del">
          <ac:chgData name="Harsh Kumar" userId="2983ceafb002f58d" providerId="LiveId" clId="{C14102EB-CFA4-4ED0-A343-4E851748F2A3}" dt="2026-08-04T09:14:48.425" v="113"/>
          <ac:spMkLst>
            <pc:docMk/>
            <pc:sldMk cId="2146563331" sldId="269"/>
            <ac:spMk id="3" creationId="{A98D3BCB-F992-4C8F-9F06-136072024042}"/>
          </ac:spMkLst>
        </pc:spChg>
        <pc:spChg chg="add mod">
          <ac:chgData name="Harsh Kumar" userId="2983ceafb002f58d" providerId="LiveId" clId="{C14102EB-CFA4-4ED0-A343-4E851748F2A3}" dt="2026-08-04T09:14:43.204" v="112" actId="688"/>
          <ac:spMkLst>
            <pc:docMk/>
            <pc:sldMk cId="2146563331" sldId="269"/>
            <ac:spMk id="7" creationId="{A5B74042-54EB-CC3F-16D3-8D0F429D67E8}"/>
          </ac:spMkLst>
        </pc:spChg>
        <pc:graphicFrameChg chg="add mod">
          <ac:chgData name="Harsh Kumar" userId="2983ceafb002f58d" providerId="LiveId" clId="{C14102EB-CFA4-4ED0-A343-4E851748F2A3}" dt="2026-08-04T09:14:48.425" v="113"/>
          <ac:graphicFrameMkLst>
            <pc:docMk/>
            <pc:sldMk cId="2146563331" sldId="269"/>
            <ac:graphicFrameMk id="4" creationId="{18B954FB-5AB8-3B05-39A8-7489480F1C3B}"/>
          </ac:graphicFrameMkLst>
        </pc:graphicFrameChg>
        <pc:graphicFrameChg chg="add mod">
          <ac:chgData name="Harsh Kumar" userId="2983ceafb002f58d" providerId="LiveId" clId="{C14102EB-CFA4-4ED0-A343-4E851748F2A3}" dt="2026-08-04T09:14:05.109" v="108"/>
          <ac:graphicFrameMkLst>
            <pc:docMk/>
            <pc:sldMk cId="2146563331" sldId="269"/>
            <ac:graphicFrameMk id="5" creationId="{3FB629E8-4448-5D03-5CBC-11EA1E08635B}"/>
          </ac:graphicFrameMkLst>
        </pc:graphicFrameChg>
      </pc:sldChg>
      <pc:sldChg chg="modSp new mod">
        <pc:chgData name="Harsh Kumar" userId="2983ceafb002f58d" providerId="LiveId" clId="{C14102EB-CFA4-4ED0-A343-4E851748F2A3}" dt="2026-08-04T09:18:53.912" v="165"/>
        <pc:sldMkLst>
          <pc:docMk/>
          <pc:sldMk cId="3812415071" sldId="269"/>
        </pc:sldMkLst>
        <pc:spChg chg="mod">
          <ac:chgData name="Harsh Kumar" userId="2983ceafb002f58d" providerId="LiveId" clId="{C14102EB-CFA4-4ED0-A343-4E851748F2A3}" dt="2026-08-04T09:18:53.912" v="165"/>
          <ac:spMkLst>
            <pc:docMk/>
            <pc:sldMk cId="3812415071" sldId="269"/>
            <ac:spMk id="2" creationId="{918851E3-5464-682D-9C78-25EB2EE013C3}"/>
          </ac:spMkLst>
        </pc:spChg>
        <pc:spChg chg="mod">
          <ac:chgData name="Harsh Kumar" userId="2983ceafb002f58d" providerId="LiveId" clId="{C14102EB-CFA4-4ED0-A343-4E851748F2A3}" dt="2026-08-04T09:18:31.956" v="164" actId="27636"/>
          <ac:spMkLst>
            <pc:docMk/>
            <pc:sldMk cId="3812415071" sldId="269"/>
            <ac:spMk id="3" creationId="{40BC463A-E2F2-A680-45FF-A9E3779708C4}"/>
          </ac:spMkLst>
        </pc:spChg>
      </pc:sldChg>
      <pc:sldChg chg="addSp delSp modSp new del mod">
        <pc:chgData name="Harsh Kumar" userId="2983ceafb002f58d" providerId="LiveId" clId="{C14102EB-CFA4-4ED0-A343-4E851748F2A3}" dt="2026-08-04T09:16:42.039" v="128" actId="680"/>
        <pc:sldMkLst>
          <pc:docMk/>
          <pc:sldMk cId="3827133806" sldId="269"/>
        </pc:sldMkLst>
        <pc:spChg chg="add del">
          <ac:chgData name="Harsh Kumar" userId="2983ceafb002f58d" providerId="LiveId" clId="{C14102EB-CFA4-4ED0-A343-4E851748F2A3}" dt="2026-08-04T09:16:32.430" v="124"/>
          <ac:spMkLst>
            <pc:docMk/>
            <pc:sldMk cId="3827133806" sldId="269"/>
            <ac:spMk id="3" creationId="{9C608CCA-D539-0295-7243-B5AE6E3076F9}"/>
          </ac:spMkLst>
        </pc:spChg>
        <pc:spChg chg="add">
          <ac:chgData name="Harsh Kumar" userId="2983ceafb002f58d" providerId="LiveId" clId="{C14102EB-CFA4-4ED0-A343-4E851748F2A3}" dt="2026-08-04T09:15:41.028" v="117"/>
          <ac:spMkLst>
            <pc:docMk/>
            <pc:sldMk cId="3827133806" sldId="269"/>
            <ac:spMk id="7" creationId="{17F994B1-2779-B30F-7BBA-DAF652D54B32}"/>
          </ac:spMkLst>
        </pc:spChg>
        <pc:spChg chg="add">
          <ac:chgData name="Harsh Kumar" userId="2983ceafb002f58d" providerId="LiveId" clId="{C14102EB-CFA4-4ED0-A343-4E851748F2A3}" dt="2026-08-04T09:16:28.358" v="123"/>
          <ac:spMkLst>
            <pc:docMk/>
            <pc:sldMk cId="3827133806" sldId="269"/>
            <ac:spMk id="11" creationId="{B4FEE426-535C-A43C-C32E-206ED62581ED}"/>
          </ac:spMkLst>
        </pc:spChg>
        <pc:graphicFrameChg chg="add mod">
          <ac:chgData name="Harsh Kumar" userId="2983ceafb002f58d" providerId="LiveId" clId="{C14102EB-CFA4-4ED0-A343-4E851748F2A3}" dt="2026-08-04T09:15:43.891" v="118"/>
          <ac:graphicFrameMkLst>
            <pc:docMk/>
            <pc:sldMk cId="3827133806" sldId="269"/>
            <ac:graphicFrameMk id="4" creationId="{2985DC3F-1F50-1B06-7C2B-A8CCC33C7D5C}"/>
          </ac:graphicFrameMkLst>
        </pc:graphicFrameChg>
        <pc:graphicFrameChg chg="add mod modGraphic">
          <ac:chgData name="Harsh Kumar" userId="2983ceafb002f58d" providerId="LiveId" clId="{C14102EB-CFA4-4ED0-A343-4E851748F2A3}" dt="2026-08-04T09:16:41.475" v="127" actId="14734"/>
          <ac:graphicFrameMkLst>
            <pc:docMk/>
            <pc:sldMk cId="3827133806" sldId="269"/>
            <ac:graphicFrameMk id="5" creationId="{8FF7379D-3E13-1A29-BF03-5FBDDE85D542}"/>
          </ac:graphicFrameMkLst>
        </pc:graphicFrameChg>
        <pc:graphicFrameChg chg="add mod">
          <ac:chgData name="Harsh Kumar" userId="2983ceafb002f58d" providerId="LiveId" clId="{C14102EB-CFA4-4ED0-A343-4E851748F2A3}" dt="2026-08-04T09:16:32.430" v="124"/>
          <ac:graphicFrameMkLst>
            <pc:docMk/>
            <pc:sldMk cId="3827133806" sldId="269"/>
            <ac:graphicFrameMk id="8" creationId="{78BCEA0D-9502-9675-FE48-9AACEF1D3109}"/>
          </ac:graphicFrameMkLst>
        </pc:graphicFrameChg>
        <pc:graphicFrameChg chg="add mod">
          <ac:chgData name="Harsh Kumar" userId="2983ceafb002f58d" providerId="LiveId" clId="{C14102EB-CFA4-4ED0-A343-4E851748F2A3}" dt="2026-08-04T09:16:28.358" v="123"/>
          <ac:graphicFrameMkLst>
            <pc:docMk/>
            <pc:sldMk cId="3827133806" sldId="269"/>
            <ac:graphicFrameMk id="9" creationId="{F57F9F35-4C33-C29B-68C1-8D20236F6FF3}"/>
          </ac:graphicFrameMkLst>
        </pc:graphicFrameChg>
      </pc:sldChg>
      <pc:sldChg chg="addSp delSp modSp new del mod">
        <pc:chgData name="Harsh Kumar" userId="2983ceafb002f58d" providerId="LiveId" clId="{C14102EB-CFA4-4ED0-A343-4E851748F2A3}" dt="2026-08-04T09:12:58.729" v="55" actId="680"/>
        <pc:sldMkLst>
          <pc:docMk/>
          <pc:sldMk cId="4157754156" sldId="269"/>
        </pc:sldMkLst>
        <pc:spChg chg="mod">
          <ac:chgData name="Harsh Kumar" userId="2983ceafb002f58d" providerId="LiveId" clId="{C14102EB-CFA4-4ED0-A343-4E851748F2A3}" dt="2026-08-04T09:12:58.255" v="54" actId="14100"/>
          <ac:spMkLst>
            <pc:docMk/>
            <pc:sldMk cId="4157754156" sldId="269"/>
            <ac:spMk id="2" creationId="{B1F4EE72-DCDE-3AF1-4117-8D3ACDCCA9D7}"/>
          </ac:spMkLst>
        </pc:spChg>
        <pc:spChg chg="add del mod">
          <ac:chgData name="Harsh Kumar" userId="2983ceafb002f58d" providerId="LiveId" clId="{C14102EB-CFA4-4ED0-A343-4E851748F2A3}" dt="2026-08-04T09:12:55.894" v="51" actId="14100"/>
          <ac:spMkLst>
            <pc:docMk/>
            <pc:sldMk cId="4157754156" sldId="269"/>
            <ac:spMk id="3" creationId="{9D28A8D4-45E4-EB85-5911-EFB80D22552A}"/>
          </ac:spMkLst>
        </pc:spChg>
        <pc:spChg chg="add">
          <ac:chgData name="Harsh Kumar" userId="2983ceafb002f58d" providerId="LiveId" clId="{C14102EB-CFA4-4ED0-A343-4E851748F2A3}" dt="2026-08-04T09:12:38.848" v="49"/>
          <ac:spMkLst>
            <pc:docMk/>
            <pc:sldMk cId="4157754156" sldId="269"/>
            <ac:spMk id="7" creationId="{8E92E96C-D34A-8F86-A014-A416BC0CE948}"/>
          </ac:spMkLst>
        </pc:spChg>
        <pc:graphicFrameChg chg="add mod">
          <ac:chgData name="Harsh Kumar" userId="2983ceafb002f58d" providerId="LiveId" clId="{C14102EB-CFA4-4ED0-A343-4E851748F2A3}" dt="2026-08-04T09:12:44.412" v="50"/>
          <ac:graphicFrameMkLst>
            <pc:docMk/>
            <pc:sldMk cId="4157754156" sldId="269"/>
            <ac:graphicFrameMk id="4" creationId="{B2A2BD7E-2310-CD94-515F-AD74A3135073}"/>
          </ac:graphicFrameMkLst>
        </pc:graphicFrameChg>
        <pc:graphicFrameChg chg="add mod">
          <ac:chgData name="Harsh Kumar" userId="2983ceafb002f58d" providerId="LiveId" clId="{C14102EB-CFA4-4ED0-A343-4E851748F2A3}" dt="2026-08-04T09:12:38.848" v="49"/>
          <ac:graphicFrameMkLst>
            <pc:docMk/>
            <pc:sldMk cId="4157754156" sldId="269"/>
            <ac:graphicFrameMk id="5" creationId="{A9A36C3F-8ACD-C81A-50E7-126A7F1C6A71}"/>
          </ac:graphicFrameMkLst>
        </pc:graphicFrameChg>
      </pc:sldChg>
      <pc:sldChg chg="new del">
        <pc:chgData name="Harsh Kumar" userId="2983ceafb002f58d" providerId="LiveId" clId="{C14102EB-CFA4-4ED0-A343-4E851748F2A3}" dt="2026-08-04T09:11:05.906" v="45" actId="680"/>
        <pc:sldMkLst>
          <pc:docMk/>
          <pc:sldMk cId="918957675" sldId="270"/>
        </pc:sldMkLst>
      </pc:sldChg>
      <pc:sldChg chg="addSp delSp modSp new del mod">
        <pc:chgData name="Harsh Kumar" userId="2983ceafb002f58d" providerId="LiveId" clId="{C14102EB-CFA4-4ED0-A343-4E851748F2A3}" dt="2026-08-04T09:05:41.846" v="21" actId="680"/>
        <pc:sldMkLst>
          <pc:docMk/>
          <pc:sldMk cId="2056312382" sldId="270"/>
        </pc:sldMkLst>
        <pc:spChg chg="add del">
          <ac:chgData name="Harsh Kumar" userId="2983ceafb002f58d" providerId="LiveId" clId="{C14102EB-CFA4-4ED0-A343-4E851748F2A3}" dt="2026-08-04T09:05:41.102" v="19" actId="931"/>
          <ac:spMkLst>
            <pc:docMk/>
            <pc:sldMk cId="2056312382" sldId="270"/>
            <ac:spMk id="3" creationId="{6BB8B51A-477A-568A-F4C9-910204901198}"/>
          </ac:spMkLst>
        </pc:spChg>
        <pc:spChg chg="add del">
          <ac:chgData name="Harsh Kumar" userId="2983ceafb002f58d" providerId="LiveId" clId="{C14102EB-CFA4-4ED0-A343-4E851748F2A3}" dt="2026-08-04T09:05:41.433" v="20" actId="931"/>
          <ac:spMkLst>
            <pc:docMk/>
            <pc:sldMk cId="2056312382" sldId="270"/>
            <ac:spMk id="4" creationId="{99494E69-6704-B0AF-B066-8BB4C860AB8E}"/>
          </ac:spMkLst>
        </pc:spChg>
        <pc:picChg chg="add del mod ord">
          <ac:chgData name="Harsh Kumar" userId="2983ceafb002f58d" providerId="LiveId" clId="{C14102EB-CFA4-4ED0-A343-4E851748F2A3}" dt="2026-08-04T09:03:39.455" v="16" actId="931"/>
          <ac:picMkLst>
            <pc:docMk/>
            <pc:sldMk cId="2056312382" sldId="270"/>
            <ac:picMk id="6" creationId="{F8DC1AE9-6198-9657-8D8F-D267291EC78D}"/>
          </ac:picMkLst>
        </pc:picChg>
        <pc:picChg chg="add del mod ord">
          <ac:chgData name="Harsh Kumar" userId="2983ceafb002f58d" providerId="LiveId" clId="{C14102EB-CFA4-4ED0-A343-4E851748F2A3}" dt="2026-08-04T09:05:41.433" v="20" actId="931"/>
          <ac:picMkLst>
            <pc:docMk/>
            <pc:sldMk cId="2056312382" sldId="270"/>
            <ac:picMk id="8" creationId="{69057DAC-AB44-8CDD-1AEF-10D0BC893510}"/>
          </ac:picMkLst>
        </pc:picChg>
        <pc:picChg chg="add del mod ord">
          <ac:chgData name="Harsh Kumar" userId="2983ceafb002f58d" providerId="LiveId" clId="{C14102EB-CFA4-4ED0-A343-4E851748F2A3}" dt="2026-08-04T09:05:41.102" v="19" actId="931"/>
          <ac:picMkLst>
            <pc:docMk/>
            <pc:sldMk cId="2056312382" sldId="270"/>
            <ac:picMk id="12" creationId="{5C86AEBE-198B-69C8-8992-ABB67E29F1B6}"/>
          </ac:picMkLst>
        </pc:picChg>
      </pc:sldChg>
      <pc:sldChg chg="add del">
        <pc:chgData name="Harsh Kumar" userId="2983ceafb002f58d" providerId="LiveId" clId="{C14102EB-CFA4-4ED0-A343-4E851748F2A3}" dt="2026-08-04T09:14:41.788" v="111" actId="2890"/>
        <pc:sldMkLst>
          <pc:docMk/>
          <pc:sldMk cId="2381254344" sldId="270"/>
        </pc:sldMkLst>
      </pc:sldChg>
      <pc:sldChg chg="addSp delSp modSp new mod">
        <pc:chgData name="Harsh Kumar" userId="2983ceafb002f58d" providerId="LiveId" clId="{C14102EB-CFA4-4ED0-A343-4E851748F2A3}" dt="2026-08-04T09:24:19.353" v="205" actId="14100"/>
        <pc:sldMkLst>
          <pc:docMk/>
          <pc:sldMk cId="2392296142" sldId="270"/>
        </pc:sldMkLst>
        <pc:spChg chg="mod">
          <ac:chgData name="Harsh Kumar" userId="2983ceafb002f58d" providerId="LiveId" clId="{C14102EB-CFA4-4ED0-A343-4E851748F2A3}" dt="2026-08-04T09:24:19.353" v="205" actId="14100"/>
          <ac:spMkLst>
            <pc:docMk/>
            <pc:sldMk cId="2392296142" sldId="270"/>
            <ac:spMk id="2" creationId="{0D7DAEDF-12EE-82B2-7F98-3C5D75F48BE4}"/>
          </ac:spMkLst>
        </pc:spChg>
        <pc:spChg chg="mod">
          <ac:chgData name="Harsh Kumar" userId="2983ceafb002f58d" providerId="LiveId" clId="{C14102EB-CFA4-4ED0-A343-4E851748F2A3}" dt="2026-08-04T09:23:54.400" v="203" actId="14100"/>
          <ac:spMkLst>
            <pc:docMk/>
            <pc:sldMk cId="2392296142" sldId="270"/>
            <ac:spMk id="3" creationId="{6CD15990-8263-5BAA-C6EB-314A0F6A1CEC}"/>
          </ac:spMkLst>
        </pc:spChg>
        <pc:spChg chg="del mod">
          <ac:chgData name="Harsh Kumar" userId="2983ceafb002f58d" providerId="LiveId" clId="{C14102EB-CFA4-4ED0-A343-4E851748F2A3}" dt="2026-08-04T09:21:35.360" v="178" actId="931"/>
          <ac:spMkLst>
            <pc:docMk/>
            <pc:sldMk cId="2392296142" sldId="270"/>
            <ac:spMk id="4" creationId="{DA21718F-0DE6-D73F-CA9B-807EFEB953C5}"/>
          </ac:spMkLst>
        </pc:spChg>
        <pc:picChg chg="add mod ord">
          <ac:chgData name="Harsh Kumar" userId="2983ceafb002f58d" providerId="LiveId" clId="{C14102EB-CFA4-4ED0-A343-4E851748F2A3}" dt="2026-08-04T09:21:35.360" v="178" actId="931"/>
          <ac:picMkLst>
            <pc:docMk/>
            <pc:sldMk cId="2392296142" sldId="270"/>
            <ac:picMk id="6" creationId="{E0E3C545-5151-6045-0112-8E30448524D4}"/>
          </ac:picMkLst>
        </pc:picChg>
      </pc:sldChg>
      <pc:sldChg chg="addSp delSp modSp new del mod">
        <pc:chgData name="Harsh Kumar" userId="2983ceafb002f58d" providerId="LiveId" clId="{C14102EB-CFA4-4ED0-A343-4E851748F2A3}" dt="2026-08-04T09:10:03.111" v="43" actId="680"/>
        <pc:sldMkLst>
          <pc:docMk/>
          <pc:sldMk cId="2662450537" sldId="270"/>
        </pc:sldMkLst>
        <pc:spChg chg="mod">
          <ac:chgData name="Harsh Kumar" userId="2983ceafb002f58d" providerId="LiveId" clId="{C14102EB-CFA4-4ED0-A343-4E851748F2A3}" dt="2026-08-04T09:09:38.939" v="37" actId="14100"/>
          <ac:spMkLst>
            <pc:docMk/>
            <pc:sldMk cId="2662450537" sldId="270"/>
            <ac:spMk id="2" creationId="{8FA2A651-CC72-910A-6C96-829928987333}"/>
          </ac:spMkLst>
        </pc:spChg>
        <pc:spChg chg="add del">
          <ac:chgData name="Harsh Kumar" userId="2983ceafb002f58d" providerId="LiveId" clId="{C14102EB-CFA4-4ED0-A343-4E851748F2A3}" dt="2026-08-04T09:09:41.907" v="42" actId="931"/>
          <ac:spMkLst>
            <pc:docMk/>
            <pc:sldMk cId="2662450537" sldId="270"/>
            <ac:spMk id="3" creationId="{AE1B00FA-2C2F-6FE1-D985-C8CB0A1EFA00}"/>
          </ac:spMkLst>
        </pc:spChg>
        <pc:picChg chg="add del mod ord">
          <ac:chgData name="Harsh Kumar" userId="2983ceafb002f58d" providerId="LiveId" clId="{C14102EB-CFA4-4ED0-A343-4E851748F2A3}" dt="2026-08-04T09:09:41.907" v="42" actId="931"/>
          <ac:picMkLst>
            <pc:docMk/>
            <pc:sldMk cId="2662450537" sldId="270"/>
            <ac:picMk id="5" creationId="{8DDB7C84-CAE3-176A-BA89-950022B61036}"/>
          </ac:picMkLst>
        </pc:picChg>
      </pc:sldChg>
      <pc:sldChg chg="new del">
        <pc:chgData name="Harsh Kumar" userId="2983ceafb002f58d" providerId="LiveId" clId="{C14102EB-CFA4-4ED0-A343-4E851748F2A3}" dt="2026-08-04T09:19:44.005" v="167" actId="680"/>
        <pc:sldMkLst>
          <pc:docMk/>
          <pc:sldMk cId="3729710601" sldId="270"/>
        </pc:sldMkLst>
      </pc:sldChg>
      <pc:sldChg chg="new del">
        <pc:chgData name="Harsh Kumar" userId="2983ceafb002f58d" providerId="LiveId" clId="{C14102EB-CFA4-4ED0-A343-4E851748F2A3}" dt="2026-08-04T09:27:58.842" v="207" actId="680"/>
        <pc:sldMkLst>
          <pc:docMk/>
          <pc:sldMk cId="1810838968" sldId="271"/>
        </pc:sldMkLst>
      </pc:sldChg>
      <pc:sldChg chg="addSp delSp modSp new mod">
        <pc:chgData name="Harsh Kumar" userId="2983ceafb002f58d" providerId="LiveId" clId="{C14102EB-CFA4-4ED0-A343-4E851748F2A3}" dt="2026-08-04T09:49:56.867" v="1329" actId="14100"/>
        <pc:sldMkLst>
          <pc:docMk/>
          <pc:sldMk cId="3215378225" sldId="271"/>
        </pc:sldMkLst>
        <pc:spChg chg="mod">
          <ac:chgData name="Harsh Kumar" userId="2983ceafb002f58d" providerId="LiveId" clId="{C14102EB-CFA4-4ED0-A343-4E851748F2A3}" dt="2026-08-04T09:49:51.244" v="1328" actId="27636"/>
          <ac:spMkLst>
            <pc:docMk/>
            <pc:sldMk cId="3215378225" sldId="271"/>
            <ac:spMk id="2" creationId="{AA317EF5-A778-D92F-B957-089C927369A2}"/>
          </ac:spMkLst>
        </pc:spChg>
        <pc:spChg chg="del">
          <ac:chgData name="Harsh Kumar" userId="2983ceafb002f58d" providerId="LiveId" clId="{C14102EB-CFA4-4ED0-A343-4E851748F2A3}" dt="2026-08-04T09:29:42.386" v="211" actId="931"/>
          <ac:spMkLst>
            <pc:docMk/>
            <pc:sldMk cId="3215378225" sldId="271"/>
            <ac:spMk id="3" creationId="{C0788EAE-DC61-30EB-29B4-D7CF53F1B9B9}"/>
          </ac:spMkLst>
        </pc:spChg>
        <pc:picChg chg="add mod ord">
          <ac:chgData name="Harsh Kumar" userId="2983ceafb002f58d" providerId="LiveId" clId="{C14102EB-CFA4-4ED0-A343-4E851748F2A3}" dt="2026-08-04T09:49:56.867" v="1329" actId="14100"/>
          <ac:picMkLst>
            <pc:docMk/>
            <pc:sldMk cId="3215378225" sldId="271"/>
            <ac:picMk id="5" creationId="{45507514-E412-B2D2-21A5-FA20EF1B2F0F}"/>
          </ac:picMkLst>
        </pc:picChg>
      </pc:sldChg>
      <pc:sldChg chg="new del">
        <pc:chgData name="Harsh Kumar" userId="2983ceafb002f58d" providerId="LiveId" clId="{C14102EB-CFA4-4ED0-A343-4E851748F2A3}" dt="2026-08-04T09:28:35.795" v="209" actId="680"/>
        <pc:sldMkLst>
          <pc:docMk/>
          <pc:sldMk cId="4188818064" sldId="271"/>
        </pc:sldMkLst>
      </pc:sldChg>
      <pc:sldChg chg="addSp delSp modSp new mod">
        <pc:chgData name="Harsh Kumar" userId="2983ceafb002f58d" providerId="LiveId" clId="{C14102EB-CFA4-4ED0-A343-4E851748F2A3}" dt="2026-08-04T10:11:16.833" v="2659"/>
        <pc:sldMkLst>
          <pc:docMk/>
          <pc:sldMk cId="804794762" sldId="272"/>
        </pc:sldMkLst>
        <pc:spChg chg="mod">
          <ac:chgData name="Harsh Kumar" userId="2983ceafb002f58d" providerId="LiveId" clId="{C14102EB-CFA4-4ED0-A343-4E851748F2A3}" dt="2026-08-04T10:11:16.833" v="2659"/>
          <ac:spMkLst>
            <pc:docMk/>
            <pc:sldMk cId="804794762" sldId="272"/>
            <ac:spMk id="2" creationId="{05ED17A5-CD19-C032-0CA3-373BA75AE826}"/>
          </ac:spMkLst>
        </pc:spChg>
        <pc:spChg chg="del">
          <ac:chgData name="Harsh Kumar" userId="2983ceafb002f58d" providerId="LiveId" clId="{C14102EB-CFA4-4ED0-A343-4E851748F2A3}" dt="2026-08-04T09:52:39.361" v="1331" actId="931"/>
          <ac:spMkLst>
            <pc:docMk/>
            <pc:sldMk cId="804794762" sldId="272"/>
            <ac:spMk id="3" creationId="{0CA04761-79CA-7A86-895B-627BFB9F0696}"/>
          </ac:spMkLst>
        </pc:spChg>
        <pc:spChg chg="add del">
          <ac:chgData name="Harsh Kumar" userId="2983ceafb002f58d" providerId="LiveId" clId="{C14102EB-CFA4-4ED0-A343-4E851748F2A3}" dt="2026-08-04T10:04:31.982" v="1798" actId="22"/>
          <ac:spMkLst>
            <pc:docMk/>
            <pc:sldMk cId="804794762" sldId="272"/>
            <ac:spMk id="7" creationId="{CFADCC35-9B92-B190-A9C0-C444138A681B}"/>
          </ac:spMkLst>
        </pc:spChg>
        <pc:picChg chg="add mod ord">
          <ac:chgData name="Harsh Kumar" userId="2983ceafb002f58d" providerId="LiveId" clId="{C14102EB-CFA4-4ED0-A343-4E851748F2A3}" dt="2026-08-04T09:52:53.999" v="1333" actId="14100"/>
          <ac:picMkLst>
            <pc:docMk/>
            <pc:sldMk cId="804794762" sldId="272"/>
            <ac:picMk id="5" creationId="{0BF90102-7AE3-77BC-3F8C-085B12E69970}"/>
          </ac:picMkLst>
        </pc:picChg>
      </pc:sldChg>
      <pc:sldChg chg="addSp delSp modSp new mod">
        <pc:chgData name="Harsh Kumar" userId="2983ceafb002f58d" providerId="LiveId" clId="{C14102EB-CFA4-4ED0-A343-4E851748F2A3}" dt="2026-08-04T10:40:41.757" v="3307"/>
        <pc:sldMkLst>
          <pc:docMk/>
          <pc:sldMk cId="3976913439" sldId="273"/>
        </pc:sldMkLst>
        <pc:spChg chg="mod">
          <ac:chgData name="Harsh Kumar" userId="2983ceafb002f58d" providerId="LiveId" clId="{C14102EB-CFA4-4ED0-A343-4E851748F2A3}" dt="2026-08-04T10:40:41.757" v="3307"/>
          <ac:spMkLst>
            <pc:docMk/>
            <pc:sldMk cId="3976913439" sldId="273"/>
            <ac:spMk id="2" creationId="{E290D990-A519-3EF6-CD11-C5C98F2B812D}"/>
          </ac:spMkLst>
        </pc:spChg>
        <pc:spChg chg="del">
          <ac:chgData name="Harsh Kumar" userId="2983ceafb002f58d" providerId="LiveId" clId="{C14102EB-CFA4-4ED0-A343-4E851748F2A3}" dt="2026-08-04T10:28:31.075" v="2671" actId="931"/>
          <ac:spMkLst>
            <pc:docMk/>
            <pc:sldMk cId="3976913439" sldId="273"/>
            <ac:spMk id="3" creationId="{29DB3A47-8E50-C7A9-CAE8-86B04444B585}"/>
          </ac:spMkLst>
        </pc:spChg>
        <pc:picChg chg="add mod ord">
          <ac:chgData name="Harsh Kumar" userId="2983ceafb002f58d" providerId="LiveId" clId="{C14102EB-CFA4-4ED0-A343-4E851748F2A3}" dt="2026-08-04T10:29:03.819" v="2678" actId="14100"/>
          <ac:picMkLst>
            <pc:docMk/>
            <pc:sldMk cId="3976913439" sldId="273"/>
            <ac:picMk id="5" creationId="{78B92D2D-CE81-89EB-8C7F-3774146B5F53}"/>
          </ac:picMkLst>
        </pc:picChg>
      </pc:sldChg>
      <pc:sldChg chg="addSp delSp modSp new mod">
        <pc:chgData name="Harsh Kumar" userId="2983ceafb002f58d" providerId="LiveId" clId="{C14102EB-CFA4-4ED0-A343-4E851748F2A3}" dt="2026-08-04T10:55:33.219" v="4253" actId="14100"/>
        <pc:sldMkLst>
          <pc:docMk/>
          <pc:sldMk cId="2781825081" sldId="274"/>
        </pc:sldMkLst>
        <pc:spChg chg="mod">
          <ac:chgData name="Harsh Kumar" userId="2983ceafb002f58d" providerId="LiveId" clId="{C14102EB-CFA4-4ED0-A343-4E851748F2A3}" dt="2026-08-04T10:55:19.551" v="4250" actId="14100"/>
          <ac:spMkLst>
            <pc:docMk/>
            <pc:sldMk cId="2781825081" sldId="274"/>
            <ac:spMk id="2" creationId="{BD321881-C485-820F-FD37-3A5BDD893118}"/>
          </ac:spMkLst>
        </pc:spChg>
        <pc:spChg chg="del">
          <ac:chgData name="Harsh Kumar" userId="2983ceafb002f58d" providerId="LiveId" clId="{C14102EB-CFA4-4ED0-A343-4E851748F2A3}" dt="2026-08-04T10:42:50.277" v="3308" actId="931"/>
          <ac:spMkLst>
            <pc:docMk/>
            <pc:sldMk cId="2781825081" sldId="274"/>
            <ac:spMk id="3" creationId="{E4DA07F7-2F2F-E529-0197-6CFF24821FA2}"/>
          </ac:spMkLst>
        </pc:spChg>
        <pc:picChg chg="add mod ord">
          <ac:chgData name="Harsh Kumar" userId="2983ceafb002f58d" providerId="LiveId" clId="{C14102EB-CFA4-4ED0-A343-4E851748F2A3}" dt="2026-08-04T10:55:33.219" v="4253" actId="14100"/>
          <ac:picMkLst>
            <pc:docMk/>
            <pc:sldMk cId="2781825081" sldId="274"/>
            <ac:picMk id="5" creationId="{474E6091-16A9-48CB-B8BA-7A897B390A14}"/>
          </ac:picMkLst>
        </pc:picChg>
      </pc:sldChg>
      <pc:sldChg chg="modSp new mod">
        <pc:chgData name="Harsh Kumar" userId="2983ceafb002f58d" providerId="LiveId" clId="{C14102EB-CFA4-4ED0-A343-4E851748F2A3}" dt="2026-08-04T10:28:11.573" v="2670"/>
        <pc:sldMkLst>
          <pc:docMk/>
          <pc:sldMk cId="351565854" sldId="275"/>
        </pc:sldMkLst>
        <pc:spChg chg="mod">
          <ac:chgData name="Harsh Kumar" userId="2983ceafb002f58d" providerId="LiveId" clId="{C14102EB-CFA4-4ED0-A343-4E851748F2A3}" dt="2026-08-04T10:26:42.675" v="2663"/>
          <ac:spMkLst>
            <pc:docMk/>
            <pc:sldMk cId="351565854" sldId="275"/>
            <ac:spMk id="2" creationId="{19CAD9E3-B6F3-235D-3D39-1B68850ABC64}"/>
          </ac:spMkLst>
        </pc:spChg>
        <pc:spChg chg="mod">
          <ac:chgData name="Harsh Kumar" userId="2983ceafb002f58d" providerId="LiveId" clId="{C14102EB-CFA4-4ED0-A343-4E851748F2A3}" dt="2026-08-04T10:28:11.573" v="2670"/>
          <ac:spMkLst>
            <pc:docMk/>
            <pc:sldMk cId="351565854" sldId="275"/>
            <ac:spMk id="3" creationId="{4EED31B6-FD39-F2AC-2D80-118D4B04ED02}"/>
          </ac:spMkLst>
        </pc:spChg>
      </pc:sldChg>
      <pc:sldChg chg="addSp delSp modSp new mod">
        <pc:chgData name="Harsh Kumar" userId="2983ceafb002f58d" providerId="LiveId" clId="{C14102EB-CFA4-4ED0-A343-4E851748F2A3}" dt="2026-08-04T11:36:05.756" v="4694" actId="14100"/>
        <pc:sldMkLst>
          <pc:docMk/>
          <pc:sldMk cId="3255923207" sldId="276"/>
        </pc:sldMkLst>
        <pc:spChg chg="mod">
          <ac:chgData name="Harsh Kumar" userId="2983ceafb002f58d" providerId="LiveId" clId="{C14102EB-CFA4-4ED0-A343-4E851748F2A3}" dt="2026-08-04T11:32:53.146" v="4693"/>
          <ac:spMkLst>
            <pc:docMk/>
            <pc:sldMk cId="3255923207" sldId="276"/>
            <ac:spMk id="2" creationId="{D60F9F77-F0AA-478B-7BA7-7B4F9221521E}"/>
          </ac:spMkLst>
        </pc:spChg>
        <pc:spChg chg="del">
          <ac:chgData name="Harsh Kumar" userId="2983ceafb002f58d" providerId="LiveId" clId="{C14102EB-CFA4-4ED0-A343-4E851748F2A3}" dt="2026-08-04T11:21:46.263" v="4258" actId="931"/>
          <ac:spMkLst>
            <pc:docMk/>
            <pc:sldMk cId="3255923207" sldId="276"/>
            <ac:spMk id="3" creationId="{0B072084-0A8F-9897-22A9-970BD0AA2CF0}"/>
          </ac:spMkLst>
        </pc:spChg>
        <pc:picChg chg="add mod ord">
          <ac:chgData name="Harsh Kumar" userId="2983ceafb002f58d" providerId="LiveId" clId="{C14102EB-CFA4-4ED0-A343-4E851748F2A3}" dt="2026-08-04T11:36:05.756" v="4694" actId="14100"/>
          <ac:picMkLst>
            <pc:docMk/>
            <pc:sldMk cId="3255923207" sldId="276"/>
            <ac:picMk id="5" creationId="{8BFBCE87-D0A8-8AD9-C071-DCA116A9F18C}"/>
          </ac:picMkLst>
        </pc:picChg>
      </pc:sldChg>
      <pc:sldChg chg="addSp delSp modSp new mod">
        <pc:chgData name="Harsh Kumar" userId="2983ceafb002f58d" providerId="LiveId" clId="{C14102EB-CFA4-4ED0-A343-4E851748F2A3}" dt="2026-08-04T11:22:57.278" v="4265"/>
        <pc:sldMkLst>
          <pc:docMk/>
          <pc:sldMk cId="4168070205" sldId="277"/>
        </pc:sldMkLst>
        <pc:spChg chg="mod">
          <ac:chgData name="Harsh Kumar" userId="2983ceafb002f58d" providerId="LiveId" clId="{C14102EB-CFA4-4ED0-A343-4E851748F2A3}" dt="2026-08-04T11:22:57.278" v="4265"/>
          <ac:spMkLst>
            <pc:docMk/>
            <pc:sldMk cId="4168070205" sldId="277"/>
            <ac:spMk id="2" creationId="{FC828D1A-178B-E400-97B3-25F77A190910}"/>
          </ac:spMkLst>
        </pc:spChg>
        <pc:picChg chg="add del">
          <ac:chgData name="Harsh Kumar" userId="2983ceafb002f58d" providerId="LiveId" clId="{C14102EB-CFA4-4ED0-A343-4E851748F2A3}" dt="2026-08-04T11:22:37.155" v="4262" actId="22"/>
          <ac:picMkLst>
            <pc:docMk/>
            <pc:sldMk cId="4168070205" sldId="277"/>
            <ac:picMk id="5" creationId="{0C7D6314-6A8D-21D9-F4C3-E2E7150C18DD}"/>
          </ac:picMkLst>
        </pc:picChg>
        <pc:picChg chg="add del">
          <ac:chgData name="Harsh Kumar" userId="2983ceafb002f58d" providerId="LiveId" clId="{C14102EB-CFA4-4ED0-A343-4E851748F2A3}" dt="2026-08-04T11:22:43.086" v="4264" actId="22"/>
          <ac:picMkLst>
            <pc:docMk/>
            <pc:sldMk cId="4168070205" sldId="277"/>
            <ac:picMk id="7" creationId="{01A8B1DB-3C00-DE8B-CA04-3EAA7CA3F47C}"/>
          </ac:picMkLst>
        </pc:picChg>
      </pc:sldChg>
      <pc:sldChg chg="addSp delSp modSp new mod">
        <pc:chgData name="Harsh Kumar" userId="2983ceafb002f58d" providerId="LiveId" clId="{C14102EB-CFA4-4ED0-A343-4E851748F2A3}" dt="2026-08-04T11:51:53.461" v="5287" actId="14100"/>
        <pc:sldMkLst>
          <pc:docMk/>
          <pc:sldMk cId="3043007031" sldId="278"/>
        </pc:sldMkLst>
        <pc:spChg chg="mod">
          <ac:chgData name="Harsh Kumar" userId="2983ceafb002f58d" providerId="LiveId" clId="{C14102EB-CFA4-4ED0-A343-4E851748F2A3}" dt="2026-08-04T11:51:46.929" v="5286" actId="14100"/>
          <ac:spMkLst>
            <pc:docMk/>
            <pc:sldMk cId="3043007031" sldId="278"/>
            <ac:spMk id="2" creationId="{0DDFF18B-7661-CBCB-25AC-AE4B58D18A11}"/>
          </ac:spMkLst>
        </pc:spChg>
        <pc:spChg chg="del mod">
          <ac:chgData name="Harsh Kumar" userId="2983ceafb002f58d" providerId="LiveId" clId="{C14102EB-CFA4-4ED0-A343-4E851748F2A3}" dt="2026-08-04T11:41:16.550" v="4711" actId="931"/>
          <ac:spMkLst>
            <pc:docMk/>
            <pc:sldMk cId="3043007031" sldId="278"/>
            <ac:spMk id="3" creationId="{56AB44B7-EFCC-6477-EBB3-FEF06394A11A}"/>
          </ac:spMkLst>
        </pc:spChg>
        <pc:picChg chg="add mod ord">
          <ac:chgData name="Harsh Kumar" userId="2983ceafb002f58d" providerId="LiveId" clId="{C14102EB-CFA4-4ED0-A343-4E851748F2A3}" dt="2026-08-04T11:51:53.461" v="5287" actId="14100"/>
          <ac:picMkLst>
            <pc:docMk/>
            <pc:sldMk cId="3043007031" sldId="278"/>
            <ac:picMk id="5" creationId="{65506187-7C81-8ED8-2653-CE1BB29D4493}"/>
          </ac:picMkLst>
        </pc:picChg>
      </pc:sldChg>
      <pc:sldChg chg="modSp new mod ord">
        <pc:chgData name="Harsh Kumar" userId="2983ceafb002f58d" providerId="LiveId" clId="{C14102EB-CFA4-4ED0-A343-4E851748F2A3}" dt="2026-08-04T12:00:32.739" v="5303"/>
        <pc:sldMkLst>
          <pc:docMk/>
          <pc:sldMk cId="1850881601" sldId="279"/>
        </pc:sldMkLst>
        <pc:spChg chg="mod">
          <ac:chgData name="Harsh Kumar" userId="2983ceafb002f58d" providerId="LiveId" clId="{C14102EB-CFA4-4ED0-A343-4E851748F2A3}" dt="2026-08-04T12:00:32.739" v="5303"/>
          <ac:spMkLst>
            <pc:docMk/>
            <pc:sldMk cId="1850881601" sldId="279"/>
            <ac:spMk id="2" creationId="{2399E635-BC04-127C-64DF-86553D6484DB}"/>
          </ac:spMkLst>
        </pc:spChg>
        <pc:spChg chg="mod">
          <ac:chgData name="Harsh Kumar" userId="2983ceafb002f58d" providerId="LiveId" clId="{C14102EB-CFA4-4ED0-A343-4E851748F2A3}" dt="2026-08-04T11:59:41.440" v="5299" actId="14100"/>
          <ac:spMkLst>
            <pc:docMk/>
            <pc:sldMk cId="1850881601" sldId="279"/>
            <ac:spMk id="3" creationId="{E34D60C4-1241-47F0-E6DF-9E391B8B7150}"/>
          </ac:spMkLst>
        </pc:spChg>
      </pc:sldChg>
      <pc:sldChg chg="new del">
        <pc:chgData name="Harsh Kumar" userId="2983ceafb002f58d" providerId="LiveId" clId="{C14102EB-CFA4-4ED0-A343-4E851748F2A3}" dt="2026-08-04T11:58:45.910" v="5289" actId="680"/>
        <pc:sldMkLst>
          <pc:docMk/>
          <pc:sldMk cId="3797053860" sldId="279"/>
        </pc:sldMkLst>
      </pc:sldChg>
      <pc:sldChg chg="modSp new mod">
        <pc:chgData name="Harsh Kumar" userId="2983ceafb002f58d" providerId="LiveId" clId="{C14102EB-CFA4-4ED0-A343-4E851748F2A3}" dt="2026-08-04T12:03:39.662" v="5308" actId="27636"/>
        <pc:sldMkLst>
          <pc:docMk/>
          <pc:sldMk cId="1472139746" sldId="280"/>
        </pc:sldMkLst>
        <pc:spChg chg="mod">
          <ac:chgData name="Harsh Kumar" userId="2983ceafb002f58d" providerId="LiveId" clId="{C14102EB-CFA4-4ED0-A343-4E851748F2A3}" dt="2026-08-04T12:03:11.594" v="5306"/>
          <ac:spMkLst>
            <pc:docMk/>
            <pc:sldMk cId="1472139746" sldId="280"/>
            <ac:spMk id="2" creationId="{A81C5E13-047D-EF7F-DA1F-F91CCC3D69F4}"/>
          </ac:spMkLst>
        </pc:spChg>
        <pc:spChg chg="mod">
          <ac:chgData name="Harsh Kumar" userId="2983ceafb002f58d" providerId="LiveId" clId="{C14102EB-CFA4-4ED0-A343-4E851748F2A3}" dt="2026-08-04T12:03:39.662" v="5308" actId="27636"/>
          <ac:spMkLst>
            <pc:docMk/>
            <pc:sldMk cId="1472139746" sldId="280"/>
            <ac:spMk id="3" creationId="{63F7DE63-016B-AF8C-0892-37C1964C4058}"/>
          </ac:spMkLst>
        </pc:spChg>
      </pc:sldChg>
      <pc:sldChg chg="modSp new mod">
        <pc:chgData name="Harsh Kumar" userId="2983ceafb002f58d" providerId="LiveId" clId="{C14102EB-CFA4-4ED0-A343-4E851748F2A3}" dt="2026-08-04T12:07:05.339" v="5319"/>
        <pc:sldMkLst>
          <pc:docMk/>
          <pc:sldMk cId="2700214238" sldId="281"/>
        </pc:sldMkLst>
        <pc:spChg chg="mod">
          <ac:chgData name="Harsh Kumar" userId="2983ceafb002f58d" providerId="LiveId" clId="{C14102EB-CFA4-4ED0-A343-4E851748F2A3}" dt="2026-08-04T12:05:48.305" v="5310"/>
          <ac:spMkLst>
            <pc:docMk/>
            <pc:sldMk cId="2700214238" sldId="281"/>
            <ac:spMk id="2" creationId="{DB41EEDB-822F-3CA0-6A17-CEAA1B70B5CC}"/>
          </ac:spMkLst>
        </pc:spChg>
        <pc:spChg chg="mod">
          <ac:chgData name="Harsh Kumar" userId="2983ceafb002f58d" providerId="LiveId" clId="{C14102EB-CFA4-4ED0-A343-4E851748F2A3}" dt="2026-08-04T12:07:05.339" v="5319"/>
          <ac:spMkLst>
            <pc:docMk/>
            <pc:sldMk cId="2700214238" sldId="281"/>
            <ac:spMk id="3" creationId="{9B15BF81-AE3A-95CF-5491-7D68F689199E}"/>
          </ac:spMkLst>
        </pc:spChg>
      </pc:sldChg>
      <pc:sldChg chg="modSp new">
        <pc:chgData name="Harsh Kumar" userId="2983ceafb002f58d" providerId="LiveId" clId="{C14102EB-CFA4-4ED0-A343-4E851748F2A3}" dt="2026-08-04T12:09:25.877" v="5322"/>
        <pc:sldMkLst>
          <pc:docMk/>
          <pc:sldMk cId="3462725913" sldId="282"/>
        </pc:sldMkLst>
        <pc:spChg chg="mod">
          <ac:chgData name="Harsh Kumar" userId="2983ceafb002f58d" providerId="LiveId" clId="{C14102EB-CFA4-4ED0-A343-4E851748F2A3}" dt="2026-08-04T12:08:54.740" v="5321"/>
          <ac:spMkLst>
            <pc:docMk/>
            <pc:sldMk cId="3462725913" sldId="282"/>
            <ac:spMk id="2" creationId="{9EC1B640-826E-4D00-619E-9D1F31C707AA}"/>
          </ac:spMkLst>
        </pc:spChg>
        <pc:spChg chg="mod">
          <ac:chgData name="Harsh Kumar" userId="2983ceafb002f58d" providerId="LiveId" clId="{C14102EB-CFA4-4ED0-A343-4E851748F2A3}" dt="2026-08-04T12:09:25.877" v="5322"/>
          <ac:spMkLst>
            <pc:docMk/>
            <pc:sldMk cId="3462725913" sldId="282"/>
            <ac:spMk id="3" creationId="{47B70B63-05F7-C86B-7922-1A257D66E281}"/>
          </ac:spMkLst>
        </pc:spChg>
      </pc:sldChg>
      <pc:sldChg chg="modSp new mod">
        <pc:chgData name="Harsh Kumar" userId="2983ceafb002f58d" providerId="LiveId" clId="{C14102EB-CFA4-4ED0-A343-4E851748F2A3}" dt="2026-08-04T12:13:14.071" v="5335" actId="27636"/>
        <pc:sldMkLst>
          <pc:docMk/>
          <pc:sldMk cId="4181786263" sldId="283"/>
        </pc:sldMkLst>
        <pc:spChg chg="mod">
          <ac:chgData name="Harsh Kumar" userId="2983ceafb002f58d" providerId="LiveId" clId="{C14102EB-CFA4-4ED0-A343-4E851748F2A3}" dt="2026-08-04T12:11:54.526" v="5326" actId="14100"/>
          <ac:spMkLst>
            <pc:docMk/>
            <pc:sldMk cId="4181786263" sldId="283"/>
            <ac:spMk id="2" creationId="{6A49813F-0D1A-9873-BE5B-8023FF744FF8}"/>
          </ac:spMkLst>
        </pc:spChg>
        <pc:spChg chg="mod">
          <ac:chgData name="Harsh Kumar" userId="2983ceafb002f58d" providerId="LiveId" clId="{C14102EB-CFA4-4ED0-A343-4E851748F2A3}" dt="2026-08-04T12:13:14.071" v="5335" actId="27636"/>
          <ac:spMkLst>
            <pc:docMk/>
            <pc:sldMk cId="4181786263" sldId="283"/>
            <ac:spMk id="3" creationId="{3CF87096-5858-C628-583B-95071D7EB1AD}"/>
          </ac:spMkLst>
        </pc:spChg>
      </pc:sldChg>
      <pc:sldChg chg="modSp new mod">
        <pc:chgData name="Harsh Kumar" userId="2983ceafb002f58d" providerId="LiveId" clId="{C14102EB-CFA4-4ED0-A343-4E851748F2A3}" dt="2026-08-04T12:13:54.174" v="5343"/>
        <pc:sldMkLst>
          <pc:docMk/>
          <pc:sldMk cId="2750833264" sldId="284"/>
        </pc:sldMkLst>
        <pc:spChg chg="mod">
          <ac:chgData name="Harsh Kumar" userId="2983ceafb002f58d" providerId="LiveId" clId="{C14102EB-CFA4-4ED0-A343-4E851748F2A3}" dt="2026-08-04T12:13:44.682" v="5341" actId="14100"/>
          <ac:spMkLst>
            <pc:docMk/>
            <pc:sldMk cId="2750833264" sldId="284"/>
            <ac:spMk id="2" creationId="{34569603-C04F-6F9F-381B-99A0F5A7DCB8}"/>
          </ac:spMkLst>
        </pc:spChg>
        <pc:spChg chg="mod">
          <ac:chgData name="Harsh Kumar" userId="2983ceafb002f58d" providerId="LiveId" clId="{C14102EB-CFA4-4ED0-A343-4E851748F2A3}" dt="2026-08-04T12:13:54.174" v="5343"/>
          <ac:spMkLst>
            <pc:docMk/>
            <pc:sldMk cId="2750833264" sldId="284"/>
            <ac:spMk id="3" creationId="{91A98D8F-2B54-EEF8-FAB7-862B2EA29E16}"/>
          </ac:spMkLst>
        </pc:spChg>
      </pc:sldChg>
      <pc:sldChg chg="addSp delSp modSp new del mod">
        <pc:chgData name="Harsh Kumar" userId="2983ceafb002f58d" providerId="LiveId" clId="{C14102EB-CFA4-4ED0-A343-4E851748F2A3}" dt="2026-08-04T12:18:22.175" v="5360" actId="680"/>
        <pc:sldMkLst>
          <pc:docMk/>
          <pc:sldMk cId="3765799512" sldId="285"/>
        </pc:sldMkLst>
        <pc:spChg chg="mod">
          <ac:chgData name="Harsh Kumar" userId="2983ceafb002f58d" providerId="LiveId" clId="{C14102EB-CFA4-4ED0-A343-4E851748F2A3}" dt="2026-08-04T12:18:21.598" v="5359"/>
          <ac:spMkLst>
            <pc:docMk/>
            <pc:sldMk cId="3765799512" sldId="285"/>
            <ac:spMk id="2" creationId="{5B074D23-7F95-8293-3CC3-57CAF7F4E93E}"/>
          </ac:spMkLst>
        </pc:spChg>
        <pc:spChg chg="add del mod">
          <ac:chgData name="Harsh Kumar" userId="2983ceafb002f58d" providerId="LiveId" clId="{C14102EB-CFA4-4ED0-A343-4E851748F2A3}" dt="2026-08-04T12:18:20.067" v="5355" actId="14100"/>
          <ac:spMkLst>
            <pc:docMk/>
            <pc:sldMk cId="3765799512" sldId="285"/>
            <ac:spMk id="3" creationId="{7DB5C57A-497E-997B-444C-FC1B47A526F2}"/>
          </ac:spMkLst>
        </pc:spChg>
        <pc:graphicFrameChg chg="add del mod ord modGraphic">
          <ac:chgData name="Harsh Kumar" userId="2983ceafb002f58d" providerId="LiveId" clId="{C14102EB-CFA4-4ED0-A343-4E851748F2A3}" dt="2026-08-04T12:17:31.038" v="5353" actId="3680"/>
          <ac:graphicFrameMkLst>
            <pc:docMk/>
            <pc:sldMk cId="3765799512" sldId="285"/>
            <ac:graphicFrameMk id="4" creationId="{9603B642-6DC4-FD48-67F0-FEA1A5D5A226}"/>
          </ac:graphicFrameMkLst>
        </pc:graphicFrameChg>
      </pc:sldChg>
      <pc:sldChg chg="addSp delSp modSp new mod modClrScheme chgLayout">
        <pc:chgData name="Harsh Kumar" userId="2983ceafb002f58d" providerId="LiveId" clId="{C14102EB-CFA4-4ED0-A343-4E851748F2A3}" dt="2026-08-04T12:21:58.048" v="5365"/>
        <pc:sldMkLst>
          <pc:docMk/>
          <pc:sldMk cId="3876565106" sldId="285"/>
        </pc:sldMkLst>
        <pc:spChg chg="del">
          <ac:chgData name="Harsh Kumar" userId="2983ceafb002f58d" providerId="LiveId" clId="{C14102EB-CFA4-4ED0-A343-4E851748F2A3}" dt="2026-08-04T12:21:08.695" v="5363" actId="26606"/>
          <ac:spMkLst>
            <pc:docMk/>
            <pc:sldMk cId="3876565106" sldId="285"/>
            <ac:spMk id="2" creationId="{30088762-2E0D-F8A9-DE4B-ADF933E366B7}"/>
          </ac:spMkLst>
        </pc:spChg>
        <pc:spChg chg="del">
          <ac:chgData name="Harsh Kumar" userId="2983ceafb002f58d" providerId="LiveId" clId="{C14102EB-CFA4-4ED0-A343-4E851748F2A3}" dt="2026-08-04T12:20:56.819" v="5362" actId="931"/>
          <ac:spMkLst>
            <pc:docMk/>
            <pc:sldMk cId="3876565106" sldId="285"/>
            <ac:spMk id="3" creationId="{B00CC4B6-C816-05F8-0BD3-A55A803DDDBF}"/>
          </ac:spMkLst>
        </pc:spChg>
        <pc:spChg chg="add mod">
          <ac:chgData name="Harsh Kumar" userId="2983ceafb002f58d" providerId="LiveId" clId="{C14102EB-CFA4-4ED0-A343-4E851748F2A3}" dt="2026-08-04T12:21:37.860" v="5364"/>
          <ac:spMkLst>
            <pc:docMk/>
            <pc:sldMk cId="3876565106" sldId="285"/>
            <ac:spMk id="10" creationId="{405C6F55-E193-E9E9-F854-760BF716D7CE}"/>
          </ac:spMkLst>
        </pc:spChg>
        <pc:spChg chg="add mod">
          <ac:chgData name="Harsh Kumar" userId="2983ceafb002f58d" providerId="LiveId" clId="{C14102EB-CFA4-4ED0-A343-4E851748F2A3}" dt="2026-08-04T12:21:58.048" v="5365"/>
          <ac:spMkLst>
            <pc:docMk/>
            <pc:sldMk cId="3876565106" sldId="285"/>
            <ac:spMk id="12" creationId="{B4BCB3EC-0C19-412C-7263-4B1C5DEB5A31}"/>
          </ac:spMkLst>
        </pc:spChg>
        <pc:picChg chg="add mod ord">
          <ac:chgData name="Harsh Kumar" userId="2983ceafb002f58d" providerId="LiveId" clId="{C14102EB-CFA4-4ED0-A343-4E851748F2A3}" dt="2026-08-04T12:21:08.695" v="5363" actId="26606"/>
          <ac:picMkLst>
            <pc:docMk/>
            <pc:sldMk cId="3876565106" sldId="285"/>
            <ac:picMk id="5" creationId="{57BB704D-557B-D260-DD0F-FF96BA21BF38}"/>
          </ac:picMkLst>
        </pc:picChg>
      </pc:sldChg>
      <pc:sldChg chg="addSp delSp modSp new mod">
        <pc:chgData name="Harsh Kumar" userId="2983ceafb002f58d" providerId="LiveId" clId="{C14102EB-CFA4-4ED0-A343-4E851748F2A3}" dt="2026-08-04T12:34:38.497" v="5383" actId="20577"/>
        <pc:sldMkLst>
          <pc:docMk/>
          <pc:sldMk cId="2564878663" sldId="286"/>
        </pc:sldMkLst>
        <pc:spChg chg="mod">
          <ac:chgData name="Harsh Kumar" userId="2983ceafb002f58d" providerId="LiveId" clId="{C14102EB-CFA4-4ED0-A343-4E851748F2A3}" dt="2026-08-04T12:34:02.164" v="5376" actId="27636"/>
          <ac:spMkLst>
            <pc:docMk/>
            <pc:sldMk cId="2564878663" sldId="286"/>
            <ac:spMk id="2" creationId="{09DF1AAF-B330-2A2D-1D1F-1736DE75B4D5}"/>
          </ac:spMkLst>
        </pc:spChg>
        <pc:spChg chg="add del mod">
          <ac:chgData name="Harsh Kumar" userId="2983ceafb002f58d" providerId="LiveId" clId="{C14102EB-CFA4-4ED0-A343-4E851748F2A3}" dt="2026-08-04T12:34:38.497" v="5383" actId="20577"/>
          <ac:spMkLst>
            <pc:docMk/>
            <pc:sldMk cId="2564878663" sldId="286"/>
            <ac:spMk id="3" creationId="{AC608B49-893A-02C6-4A70-1DCCAAFED58F}"/>
          </ac:spMkLst>
        </pc:spChg>
        <pc:graphicFrameChg chg="add del mod ord modGraphic">
          <ac:chgData name="Harsh Kumar" userId="2983ceafb002f58d" providerId="LiveId" clId="{C14102EB-CFA4-4ED0-A343-4E851748F2A3}" dt="2026-08-04T12:33:20.928" v="5374" actId="3680"/>
          <ac:graphicFrameMkLst>
            <pc:docMk/>
            <pc:sldMk cId="2564878663" sldId="286"/>
            <ac:graphicFrameMk id="4" creationId="{7F94D8CB-FA87-86E1-3FEF-609E02EDE793}"/>
          </ac:graphicFrameMkLst>
        </pc:graphicFrameChg>
      </pc:sldChg>
      <pc:sldChg chg="addSp delSp modSp new mod">
        <pc:chgData name="Harsh Kumar" userId="2983ceafb002f58d" providerId="LiveId" clId="{C14102EB-CFA4-4ED0-A343-4E851748F2A3}" dt="2026-08-04T12:36:20.778" v="5391" actId="14100"/>
        <pc:sldMkLst>
          <pc:docMk/>
          <pc:sldMk cId="2202801008" sldId="287"/>
        </pc:sldMkLst>
        <pc:spChg chg="mod">
          <ac:chgData name="Harsh Kumar" userId="2983ceafb002f58d" providerId="LiveId" clId="{C14102EB-CFA4-4ED0-A343-4E851748F2A3}" dt="2026-08-04T12:35:00.182" v="5385"/>
          <ac:spMkLst>
            <pc:docMk/>
            <pc:sldMk cId="2202801008" sldId="287"/>
            <ac:spMk id="2" creationId="{96402A6B-C248-5E00-C17E-67764C5E81D9}"/>
          </ac:spMkLst>
        </pc:spChg>
        <pc:spChg chg="del mod">
          <ac:chgData name="Harsh Kumar" userId="2983ceafb002f58d" providerId="LiveId" clId="{C14102EB-CFA4-4ED0-A343-4E851748F2A3}" dt="2026-08-04T12:36:05.322" v="5387" actId="931"/>
          <ac:spMkLst>
            <pc:docMk/>
            <pc:sldMk cId="2202801008" sldId="287"/>
            <ac:spMk id="3" creationId="{D33966DA-9073-B44F-C879-6B56543AA8B5}"/>
          </ac:spMkLst>
        </pc:spChg>
        <pc:picChg chg="add mod ord">
          <ac:chgData name="Harsh Kumar" userId="2983ceafb002f58d" providerId="LiveId" clId="{C14102EB-CFA4-4ED0-A343-4E851748F2A3}" dt="2026-08-04T12:36:20.778" v="5391" actId="14100"/>
          <ac:picMkLst>
            <pc:docMk/>
            <pc:sldMk cId="2202801008" sldId="287"/>
            <ac:picMk id="5" creationId="{FD3D82BE-93A8-E494-BABA-955AB693AD5B}"/>
          </ac:picMkLst>
        </pc:picChg>
      </pc:sldChg>
      <pc:sldChg chg="addSp delSp modSp new mod">
        <pc:chgData name="Harsh Kumar" userId="2983ceafb002f58d" providerId="LiveId" clId="{C14102EB-CFA4-4ED0-A343-4E851748F2A3}" dt="2026-08-04T12:38:22.368" v="5408" actId="1076"/>
        <pc:sldMkLst>
          <pc:docMk/>
          <pc:sldMk cId="2110736803" sldId="288"/>
        </pc:sldMkLst>
        <pc:spChg chg="mod">
          <ac:chgData name="Harsh Kumar" userId="2983ceafb002f58d" providerId="LiveId" clId="{C14102EB-CFA4-4ED0-A343-4E851748F2A3}" dt="2026-08-04T12:36:42.832" v="5397" actId="20577"/>
          <ac:spMkLst>
            <pc:docMk/>
            <pc:sldMk cId="2110736803" sldId="288"/>
            <ac:spMk id="2" creationId="{55EB1ED4-D771-4ABB-4DC5-C633926C389B}"/>
          </ac:spMkLst>
        </pc:spChg>
        <pc:spChg chg="del mod">
          <ac:chgData name="Harsh Kumar" userId="2983ceafb002f58d" providerId="LiveId" clId="{C14102EB-CFA4-4ED0-A343-4E851748F2A3}" dt="2026-08-04T12:37:53.776" v="5402" actId="931"/>
          <ac:spMkLst>
            <pc:docMk/>
            <pc:sldMk cId="2110736803" sldId="288"/>
            <ac:spMk id="3" creationId="{F68F9020-3199-B406-DBB1-E17D14AFA5E7}"/>
          </ac:spMkLst>
        </pc:spChg>
        <pc:picChg chg="add mod ord">
          <ac:chgData name="Harsh Kumar" userId="2983ceafb002f58d" providerId="LiveId" clId="{C14102EB-CFA4-4ED0-A343-4E851748F2A3}" dt="2026-08-04T12:38:22.368" v="5408" actId="1076"/>
          <ac:picMkLst>
            <pc:docMk/>
            <pc:sldMk cId="2110736803" sldId="288"/>
            <ac:picMk id="5" creationId="{7FB026C9-19C3-3B4E-C0A6-B58041B7B3E6}"/>
          </ac:picMkLst>
        </pc:picChg>
      </pc:sldChg>
      <pc:sldChg chg="new del">
        <pc:chgData name="Harsh Kumar" userId="2983ceafb002f58d" providerId="LiveId" clId="{C14102EB-CFA4-4ED0-A343-4E851748F2A3}" dt="2026-08-04T12:41:09.277" v="5410" actId="2696"/>
        <pc:sldMkLst>
          <pc:docMk/>
          <pc:sldMk cId="1126774201" sldId="289"/>
        </pc:sldMkLst>
      </pc:sldChg>
      <pc:sldChg chg="addSp delSp modSp new mod">
        <pc:chgData name="Harsh Kumar" userId="2983ceafb002f58d" providerId="LiveId" clId="{C14102EB-CFA4-4ED0-A343-4E851748F2A3}" dt="2026-08-04T12:47:24.222" v="5467" actId="255"/>
        <pc:sldMkLst>
          <pc:docMk/>
          <pc:sldMk cId="3297472034" sldId="289"/>
        </pc:sldMkLst>
        <pc:spChg chg="mod">
          <ac:chgData name="Harsh Kumar" userId="2983ceafb002f58d" providerId="LiveId" clId="{C14102EB-CFA4-4ED0-A343-4E851748F2A3}" dt="2026-08-04T12:47:24.222" v="5467" actId="255"/>
          <ac:spMkLst>
            <pc:docMk/>
            <pc:sldMk cId="3297472034" sldId="289"/>
            <ac:spMk id="2" creationId="{0DB5A83C-7CB5-55DF-FEDB-6CF2F37B0E9B}"/>
          </ac:spMkLst>
        </pc:spChg>
        <pc:spChg chg="del mod">
          <ac:chgData name="Harsh Kumar" userId="2983ceafb002f58d" providerId="LiveId" clId="{C14102EB-CFA4-4ED0-A343-4E851748F2A3}" dt="2026-08-04T12:42:51.532" v="5428" actId="931"/>
          <ac:spMkLst>
            <pc:docMk/>
            <pc:sldMk cId="3297472034" sldId="289"/>
            <ac:spMk id="3" creationId="{30408174-1E3F-EB57-5E94-8A2D56E98D4A}"/>
          </ac:spMkLst>
        </pc:spChg>
        <pc:picChg chg="add mod ord">
          <ac:chgData name="Harsh Kumar" userId="2983ceafb002f58d" providerId="LiveId" clId="{C14102EB-CFA4-4ED0-A343-4E851748F2A3}" dt="2026-08-04T12:43:04.041" v="5430" actId="14100"/>
          <ac:picMkLst>
            <pc:docMk/>
            <pc:sldMk cId="3297472034" sldId="289"/>
            <ac:picMk id="5" creationId="{698086F4-E69A-93A4-AF84-697E32A16738}"/>
          </ac:picMkLst>
        </pc:picChg>
      </pc:sldChg>
      <pc:sldChg chg="modSp new mod">
        <pc:chgData name="Harsh Kumar" userId="2983ceafb002f58d" providerId="LiveId" clId="{C14102EB-CFA4-4ED0-A343-4E851748F2A3}" dt="2026-08-04T12:52:44.871" v="5484" actId="27636"/>
        <pc:sldMkLst>
          <pc:docMk/>
          <pc:sldMk cId="4152211835" sldId="290"/>
        </pc:sldMkLst>
        <pc:spChg chg="mod">
          <ac:chgData name="Harsh Kumar" userId="2983ceafb002f58d" providerId="LiveId" clId="{C14102EB-CFA4-4ED0-A343-4E851748F2A3}" dt="2026-08-04T12:50:57.847" v="5469"/>
          <ac:spMkLst>
            <pc:docMk/>
            <pc:sldMk cId="4152211835" sldId="290"/>
            <ac:spMk id="2" creationId="{ED1BC25B-5D3E-A251-E255-A662DF0E0A75}"/>
          </ac:spMkLst>
        </pc:spChg>
        <pc:spChg chg="mod">
          <ac:chgData name="Harsh Kumar" userId="2983ceafb002f58d" providerId="LiveId" clId="{C14102EB-CFA4-4ED0-A343-4E851748F2A3}" dt="2026-08-04T12:52:44.871" v="5484" actId="27636"/>
          <ac:spMkLst>
            <pc:docMk/>
            <pc:sldMk cId="4152211835" sldId="290"/>
            <ac:spMk id="3" creationId="{670BE214-352D-3D33-3BAF-EA2110A5F218}"/>
          </ac:spMkLst>
        </pc:spChg>
      </pc:sldChg>
      <pc:sldChg chg="modSp new mod">
        <pc:chgData name="Harsh Kumar" userId="2983ceafb002f58d" providerId="LiveId" clId="{C14102EB-CFA4-4ED0-A343-4E851748F2A3}" dt="2026-08-04T12:53:00.071" v="5485"/>
        <pc:sldMkLst>
          <pc:docMk/>
          <pc:sldMk cId="1823369805" sldId="291"/>
        </pc:sldMkLst>
        <pc:spChg chg="mod">
          <ac:chgData name="Harsh Kumar" userId="2983ceafb002f58d" providerId="LiveId" clId="{C14102EB-CFA4-4ED0-A343-4E851748F2A3}" dt="2026-08-04T12:52:19.404" v="5479" actId="27636"/>
          <ac:spMkLst>
            <pc:docMk/>
            <pc:sldMk cId="1823369805" sldId="291"/>
            <ac:spMk id="2" creationId="{0063E1D4-D988-26A7-4CFB-8E5F8DE9A6E3}"/>
          </ac:spMkLst>
        </pc:spChg>
        <pc:spChg chg="mod">
          <ac:chgData name="Harsh Kumar" userId="2983ceafb002f58d" providerId="LiveId" clId="{C14102EB-CFA4-4ED0-A343-4E851748F2A3}" dt="2026-08-04T12:53:00.071" v="5485"/>
          <ac:spMkLst>
            <pc:docMk/>
            <pc:sldMk cId="1823369805" sldId="291"/>
            <ac:spMk id="3" creationId="{DCE305EF-0502-9133-A23B-85D36BFE6359}"/>
          </ac:spMkLst>
        </pc:spChg>
      </pc:sldChg>
      <pc:sldChg chg="modSp new mod">
        <pc:chgData name="Harsh Kumar" userId="2983ceafb002f58d" providerId="LiveId" clId="{C14102EB-CFA4-4ED0-A343-4E851748F2A3}" dt="2026-08-04T12:55:15.672" v="5501" actId="27636"/>
        <pc:sldMkLst>
          <pc:docMk/>
          <pc:sldMk cId="3875123048" sldId="292"/>
        </pc:sldMkLst>
        <pc:spChg chg="mod">
          <ac:chgData name="Harsh Kumar" userId="2983ceafb002f58d" providerId="LiveId" clId="{C14102EB-CFA4-4ED0-A343-4E851748F2A3}" dt="2026-08-04T12:54:26.978" v="5499"/>
          <ac:spMkLst>
            <pc:docMk/>
            <pc:sldMk cId="3875123048" sldId="292"/>
            <ac:spMk id="2" creationId="{BB6073CC-B4CF-C2B0-ED62-83F81E18CFAD}"/>
          </ac:spMkLst>
        </pc:spChg>
        <pc:spChg chg="mod">
          <ac:chgData name="Harsh Kumar" userId="2983ceafb002f58d" providerId="LiveId" clId="{C14102EB-CFA4-4ED0-A343-4E851748F2A3}" dt="2026-08-04T12:55:15.672" v="5501" actId="27636"/>
          <ac:spMkLst>
            <pc:docMk/>
            <pc:sldMk cId="3875123048" sldId="292"/>
            <ac:spMk id="3" creationId="{793F545F-13DB-6E94-EA1E-9A3892E24E48}"/>
          </ac:spMkLst>
        </pc:spChg>
      </pc:sldChg>
      <pc:sldChg chg="addSp delSp modSp new mod">
        <pc:chgData name="Harsh Kumar" userId="2983ceafb002f58d" providerId="LiveId" clId="{C14102EB-CFA4-4ED0-A343-4E851748F2A3}" dt="2026-08-04T12:57:22.437" v="5509" actId="14100"/>
        <pc:sldMkLst>
          <pc:docMk/>
          <pc:sldMk cId="723160774" sldId="293"/>
        </pc:sldMkLst>
        <pc:spChg chg="mod">
          <ac:chgData name="Harsh Kumar" userId="2983ceafb002f58d" providerId="LiveId" clId="{C14102EB-CFA4-4ED0-A343-4E851748F2A3}" dt="2026-08-04T12:55:52.967" v="5504" actId="255"/>
          <ac:spMkLst>
            <pc:docMk/>
            <pc:sldMk cId="723160774" sldId="293"/>
            <ac:spMk id="2" creationId="{A29761C3-BC95-2898-D93B-4BD5B8F98F28}"/>
          </ac:spMkLst>
        </pc:spChg>
        <pc:spChg chg="del">
          <ac:chgData name="Harsh Kumar" userId="2983ceafb002f58d" providerId="LiveId" clId="{C14102EB-CFA4-4ED0-A343-4E851748F2A3}" dt="2026-08-04T12:57:10.730" v="5505" actId="931"/>
          <ac:spMkLst>
            <pc:docMk/>
            <pc:sldMk cId="723160774" sldId="293"/>
            <ac:spMk id="3" creationId="{346DF695-64EF-6E8D-286D-569AE1C95014}"/>
          </ac:spMkLst>
        </pc:spChg>
        <pc:picChg chg="add mod ord">
          <ac:chgData name="Harsh Kumar" userId="2983ceafb002f58d" providerId="LiveId" clId="{C14102EB-CFA4-4ED0-A343-4E851748F2A3}" dt="2026-08-04T12:57:22.437" v="5509" actId="14100"/>
          <ac:picMkLst>
            <pc:docMk/>
            <pc:sldMk cId="723160774" sldId="293"/>
            <ac:picMk id="5" creationId="{53ED975B-03E4-1CA4-2713-320139EC3290}"/>
          </ac:picMkLst>
        </pc:picChg>
      </pc:sldChg>
      <pc:sldChg chg="modSp new mod">
        <pc:chgData name="Harsh Kumar" userId="2983ceafb002f58d" providerId="LiveId" clId="{C14102EB-CFA4-4ED0-A343-4E851748F2A3}" dt="2026-08-04T12:59:13.277" v="5555"/>
        <pc:sldMkLst>
          <pc:docMk/>
          <pc:sldMk cId="1852065432" sldId="294"/>
        </pc:sldMkLst>
        <pc:spChg chg="mod">
          <ac:chgData name="Harsh Kumar" userId="2983ceafb002f58d" providerId="LiveId" clId="{C14102EB-CFA4-4ED0-A343-4E851748F2A3}" dt="2026-08-04T12:58:35.312" v="5512" actId="27636"/>
          <ac:spMkLst>
            <pc:docMk/>
            <pc:sldMk cId="1852065432" sldId="294"/>
            <ac:spMk id="2" creationId="{89628642-DEAE-28E9-3A67-7F2B0215A1A1}"/>
          </ac:spMkLst>
        </pc:spChg>
        <pc:spChg chg="mod">
          <ac:chgData name="Harsh Kumar" userId="2983ceafb002f58d" providerId="LiveId" clId="{C14102EB-CFA4-4ED0-A343-4E851748F2A3}" dt="2026-08-04T12:59:13.277" v="5555"/>
          <ac:spMkLst>
            <pc:docMk/>
            <pc:sldMk cId="1852065432" sldId="294"/>
            <ac:spMk id="3" creationId="{E217CF21-9088-F7AA-FD6F-7F74C0432948}"/>
          </ac:spMkLst>
        </pc:spChg>
      </pc:sldChg>
      <pc:sldChg chg="modSp new mod">
        <pc:chgData name="Harsh Kumar" userId="2983ceafb002f58d" providerId="LiveId" clId="{C14102EB-CFA4-4ED0-A343-4E851748F2A3}" dt="2026-08-04T13:00:41.192" v="5562"/>
        <pc:sldMkLst>
          <pc:docMk/>
          <pc:sldMk cId="579686442" sldId="295"/>
        </pc:sldMkLst>
        <pc:spChg chg="mod">
          <ac:chgData name="Harsh Kumar" userId="2983ceafb002f58d" providerId="LiveId" clId="{C14102EB-CFA4-4ED0-A343-4E851748F2A3}" dt="2026-08-04T13:00:02.656" v="5558" actId="27636"/>
          <ac:spMkLst>
            <pc:docMk/>
            <pc:sldMk cId="579686442" sldId="295"/>
            <ac:spMk id="2" creationId="{DC4E03CE-E65F-7E04-812C-FB07B9E07D56}"/>
          </ac:spMkLst>
        </pc:spChg>
        <pc:spChg chg="mod">
          <ac:chgData name="Harsh Kumar" userId="2983ceafb002f58d" providerId="LiveId" clId="{C14102EB-CFA4-4ED0-A343-4E851748F2A3}" dt="2026-08-04T13:00:41.192" v="5562"/>
          <ac:spMkLst>
            <pc:docMk/>
            <pc:sldMk cId="579686442" sldId="295"/>
            <ac:spMk id="3" creationId="{1D269EEE-0ACE-7ADD-17CD-38F377BED735}"/>
          </ac:spMkLst>
        </pc:spChg>
      </pc:sldChg>
      <pc:sldChg chg="modSp new mod">
        <pc:chgData name="Harsh Kumar" userId="2983ceafb002f58d" providerId="LiveId" clId="{C14102EB-CFA4-4ED0-A343-4E851748F2A3}" dt="2026-08-04T13:03:48.321" v="5590" actId="20577"/>
        <pc:sldMkLst>
          <pc:docMk/>
          <pc:sldMk cId="3268107425" sldId="296"/>
        </pc:sldMkLst>
        <pc:spChg chg="mod">
          <ac:chgData name="Harsh Kumar" userId="2983ceafb002f58d" providerId="LiveId" clId="{C14102EB-CFA4-4ED0-A343-4E851748F2A3}" dt="2026-08-04T13:03:48.321" v="5590" actId="20577"/>
          <ac:spMkLst>
            <pc:docMk/>
            <pc:sldMk cId="3268107425" sldId="296"/>
            <ac:spMk id="2" creationId="{D974C8BC-ED9D-0946-DB89-A2767A90A585}"/>
          </ac:spMkLst>
        </pc:spChg>
        <pc:spChg chg="mod">
          <ac:chgData name="Harsh Kumar" userId="2983ceafb002f58d" providerId="LiveId" clId="{C14102EB-CFA4-4ED0-A343-4E851748F2A3}" dt="2026-08-04T13:03:31.983" v="5586"/>
          <ac:spMkLst>
            <pc:docMk/>
            <pc:sldMk cId="3268107425" sldId="296"/>
            <ac:spMk id="3" creationId="{3993784A-9FE2-D9E2-1552-F9900149D50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8/4/2026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8/4/2026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8/4/2026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8/4/2026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8/4/2026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8/4/2026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8/4/2026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8/4/2026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8/4/2026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8/4/2026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8/4/2026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8/4/2026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8/4/2026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dirty="0"/>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8/4/2026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dirty="0"/>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8/4/2026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a:t>Click to edit Master title style</a:t>
            </a:r>
            <a:endParaRPr lang="en-US" dirty="0"/>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8/4/2026</a:t>
            </a:fld>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dirty="0"/>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8/4/2026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dirty="0"/>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a:t>Click to edit Master title style</a:t>
            </a:r>
            <a:endParaRPr lang="en-US" dirty="0"/>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8/4/2026</a:t>
            </a:fld>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dirty="0"/>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8/4/2026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dirty="0"/>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8/4/2026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8/4/2026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dirty="0"/>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a:t>Click to edit Master title style</a:t>
            </a:r>
            <a:endParaRPr lang="en-US" dirty="0"/>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8/4/2026</a:t>
            </a:fld>
            <a:endParaRPr lang="en-US" dirty="0"/>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a:t>Click to edit Master title style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8/4/2026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a:t>Click to edit Master title style</a:t>
            </a:r>
            <a:endParaRPr lang="en-US" dirty="0"/>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8/4/2026</a:t>
            </a:fld>
            <a:endParaRPr lang="en-US" dirty="0"/>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dirty="0"/>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a:t>Click to edit Master title style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8/4/2026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dirty="0"/>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a:t>Click to edit Master title style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8/4/2026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dirty="0"/>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a:t>Click to edit Master title style</a:t>
            </a:r>
            <a:endParaRPr lang="en-US" dirty="0"/>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8/4/2026</a:t>
            </a:fld>
            <a:endParaRPr lang="en-US" dirty="0"/>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dirty="0"/>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a:t>Click to edit Master title style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8/4/2026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dirty="0"/>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8/4/2026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8/4/2026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8/4/2026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8/4/2026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8/4/2026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8/4/2026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8/4/2026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8/4/2026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8/4/2026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8/4/2026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8/4/2026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8/4/2026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8/4/2026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8/4/2026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8/4/2026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8/4/2026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8/4/2026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8/4/2026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8/4/2026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p:txBody>
          <a:bodyPr/>
          <a:lstStyle/>
          <a:p>
            <a:r>
              <a:rPr lang="en-IN" dirty="0"/>
              <a:t>Employee Retention Prediction</a:t>
            </a:r>
            <a:endParaRPr lang="en-US" dirty="0"/>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p:txBody>
          <a:bodyPr anchor="t">
            <a:normAutofit/>
          </a:bodyPr>
          <a:lstStyle/>
          <a:p>
            <a:r>
              <a:rPr lang="en-IN" dirty="0"/>
              <a:t>Machine Learning Project</a:t>
            </a:r>
          </a:p>
          <a:p>
            <a:endParaRPr lang="en-US" dirty="0"/>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0732-6534-6399-14CD-64CAEEA4313B}"/>
              </a:ext>
            </a:extLst>
          </p:cNvPr>
          <p:cNvSpPr>
            <a:spLocks noGrp="1"/>
          </p:cNvSpPr>
          <p:nvPr>
            <p:ph type="title"/>
          </p:nvPr>
        </p:nvSpPr>
        <p:spPr/>
        <p:txBody>
          <a:bodyPr>
            <a:normAutofit fontScale="90000"/>
          </a:bodyPr>
          <a:lstStyle/>
          <a:p>
            <a:r>
              <a:rPr lang="en-IN" dirty="0"/>
              <a:t>Project Overview</a:t>
            </a:r>
            <a:br>
              <a:rPr lang="en-IN" dirty="0"/>
            </a:br>
            <a:endParaRPr lang="en-IN" dirty="0"/>
          </a:p>
        </p:txBody>
      </p:sp>
      <p:sp>
        <p:nvSpPr>
          <p:cNvPr id="3" name="Content Placeholder 2">
            <a:extLst>
              <a:ext uri="{FF2B5EF4-FFF2-40B4-BE49-F238E27FC236}">
                <a16:creationId xmlns:a16="http://schemas.microsoft.com/office/drawing/2014/main" id="{2F4F8016-598E-B72D-B6B3-13922C2B49B1}"/>
              </a:ext>
            </a:extLst>
          </p:cNvPr>
          <p:cNvSpPr>
            <a:spLocks noGrp="1"/>
          </p:cNvSpPr>
          <p:nvPr>
            <p:ph idx="1"/>
          </p:nvPr>
        </p:nvSpPr>
        <p:spPr/>
        <p:txBody>
          <a:bodyPr>
            <a:normAutofit lnSpcReduction="10000"/>
          </a:bodyPr>
          <a:lstStyle/>
          <a:p>
            <a:r>
              <a:rPr lang="en-IN" b="1" dirty="0"/>
              <a:t>Project Goal:</a:t>
            </a:r>
            <a:r>
              <a:rPr lang="en-IN" dirty="0"/>
              <a:t> Predict whether a data scientist is likely to look for a job change using machine learning.</a:t>
            </a:r>
          </a:p>
          <a:p>
            <a:r>
              <a:rPr lang="en-IN" b="1" dirty="0"/>
              <a:t>Why this project is important:</a:t>
            </a:r>
            <a:endParaRPr lang="en-IN" dirty="0"/>
          </a:p>
          <a:p>
            <a:pPr lvl="0"/>
            <a:r>
              <a:rPr lang="en-IN" dirty="0"/>
              <a:t>Helps companies identify employees who may leave</a:t>
            </a:r>
          </a:p>
          <a:p>
            <a:pPr lvl="0"/>
            <a:r>
              <a:rPr lang="en-IN" dirty="0"/>
              <a:t>Supports HR in improving retention strategies</a:t>
            </a:r>
          </a:p>
          <a:p>
            <a:pPr lvl="0"/>
            <a:r>
              <a:rPr lang="en-IN" dirty="0"/>
              <a:t>Enables proactive recruitment planning</a:t>
            </a:r>
          </a:p>
          <a:p>
            <a:pPr lvl="0"/>
            <a:r>
              <a:rPr lang="en-IN" dirty="0"/>
              <a:t>Helps allocate training and development resources effectively</a:t>
            </a:r>
          </a:p>
          <a:p>
            <a:r>
              <a:rPr lang="en-IN" b="1" dirty="0"/>
              <a:t>What this project includes:</a:t>
            </a:r>
            <a:endParaRPr lang="en-IN" dirty="0"/>
          </a:p>
          <a:p>
            <a:pPr lvl="0"/>
            <a:r>
              <a:rPr lang="en-IN" dirty="0"/>
              <a:t>Exploratory Data Analysis (EDA)</a:t>
            </a:r>
          </a:p>
          <a:p>
            <a:pPr lvl="0"/>
            <a:r>
              <a:rPr lang="en-IN" dirty="0"/>
              <a:t>Data preprocessing and feature engineering</a:t>
            </a:r>
          </a:p>
          <a:p>
            <a:pPr lvl="0"/>
            <a:r>
              <a:rPr lang="en-IN" dirty="0"/>
              <a:t>Multiple ML models (Logistic Regression, Random Forest, </a:t>
            </a:r>
            <a:r>
              <a:rPr lang="en-IN" dirty="0" err="1"/>
              <a:t>XGBoost</a:t>
            </a:r>
            <a:r>
              <a:rPr lang="en-IN" dirty="0"/>
              <a:t>, </a:t>
            </a:r>
            <a:r>
              <a:rPr lang="en-IN" dirty="0" err="1"/>
              <a:t>LightGBM</a:t>
            </a:r>
            <a:r>
              <a:rPr lang="en-IN" dirty="0"/>
              <a:t>)</a:t>
            </a:r>
          </a:p>
          <a:p>
            <a:pPr lvl="0"/>
            <a:r>
              <a:rPr lang="en-IN" dirty="0"/>
              <a:t>Model comparison using accuracy &amp; ROC‑AUC</a:t>
            </a:r>
          </a:p>
          <a:p>
            <a:pPr lvl="0"/>
            <a:r>
              <a:rPr lang="en-IN" dirty="0"/>
              <a:t>Final model deployment using </a:t>
            </a:r>
            <a:r>
              <a:rPr lang="en-IN" dirty="0" err="1"/>
              <a:t>Streamlit</a:t>
            </a:r>
            <a:endParaRPr lang="en-IN" dirty="0"/>
          </a:p>
          <a:p>
            <a:endParaRPr lang="en-IN" dirty="0"/>
          </a:p>
        </p:txBody>
      </p:sp>
    </p:spTree>
    <p:extLst>
      <p:ext uri="{BB962C8B-B14F-4D97-AF65-F5344CB8AC3E}">
        <p14:creationId xmlns:p14="http://schemas.microsoft.com/office/powerpoint/2010/main" val="3751810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8C211-86D2-B2D4-6BB6-8BA984068F52}"/>
              </a:ext>
            </a:extLst>
          </p:cNvPr>
          <p:cNvSpPr>
            <a:spLocks noGrp="1"/>
          </p:cNvSpPr>
          <p:nvPr>
            <p:ph type="title"/>
          </p:nvPr>
        </p:nvSpPr>
        <p:spPr/>
        <p:txBody>
          <a:bodyPr/>
          <a:lstStyle/>
          <a:p>
            <a:r>
              <a:rPr lang="en-IN" dirty="0"/>
              <a:t>Business Problem</a:t>
            </a:r>
          </a:p>
        </p:txBody>
      </p:sp>
      <p:sp>
        <p:nvSpPr>
          <p:cNvPr id="3" name="Content Placeholder 2">
            <a:extLst>
              <a:ext uri="{FF2B5EF4-FFF2-40B4-BE49-F238E27FC236}">
                <a16:creationId xmlns:a16="http://schemas.microsoft.com/office/drawing/2014/main" id="{63EED826-C5C4-05C2-F13A-C817A8F45362}"/>
              </a:ext>
            </a:extLst>
          </p:cNvPr>
          <p:cNvSpPr>
            <a:spLocks noGrp="1"/>
          </p:cNvSpPr>
          <p:nvPr>
            <p:ph idx="1"/>
          </p:nvPr>
        </p:nvSpPr>
        <p:spPr>
          <a:xfrm>
            <a:off x="457199" y="1604865"/>
            <a:ext cx="11277599" cy="5113175"/>
          </a:xfrm>
        </p:spPr>
        <p:txBody>
          <a:bodyPr/>
          <a:lstStyle/>
          <a:p>
            <a:r>
              <a:rPr lang="en-IN" b="1" dirty="0"/>
              <a:t>Employee attrition is a major challenge for companies.</a:t>
            </a:r>
            <a:r>
              <a:rPr lang="en-IN" dirty="0"/>
              <a:t> Replacing skilled employees—especially data scientists—is expensive and time‑consuming.</a:t>
            </a:r>
          </a:p>
          <a:p>
            <a:r>
              <a:rPr lang="en-IN" b="1" dirty="0"/>
              <a:t>Key problems faced by companies:</a:t>
            </a:r>
            <a:endParaRPr lang="en-IN" dirty="0"/>
          </a:p>
          <a:p>
            <a:pPr lvl="0"/>
            <a:r>
              <a:rPr lang="en-IN" dirty="0"/>
              <a:t>Sudden resignations disrupt ongoing projects</a:t>
            </a:r>
          </a:p>
          <a:p>
            <a:pPr lvl="0"/>
            <a:r>
              <a:rPr lang="en-IN" dirty="0"/>
              <a:t>Hiring new data scientists requires high cost and long onboarding time</a:t>
            </a:r>
          </a:p>
          <a:p>
            <a:pPr lvl="0"/>
            <a:r>
              <a:rPr lang="en-IN" dirty="0"/>
              <a:t>HR teams struggle to identify employees who may leave</a:t>
            </a:r>
          </a:p>
          <a:p>
            <a:pPr lvl="0"/>
            <a:r>
              <a:rPr lang="en-IN" dirty="0"/>
              <a:t>Lack of early warning leads to poor workforce planning</a:t>
            </a:r>
          </a:p>
          <a:p>
            <a:pPr lvl="0"/>
            <a:r>
              <a:rPr lang="en-IN" dirty="0"/>
              <a:t>Productivity drops when experienced employees quit</a:t>
            </a:r>
          </a:p>
          <a:p>
            <a:r>
              <a:rPr lang="en-IN" b="1" dirty="0"/>
              <a:t>Why prediction is needed:</a:t>
            </a:r>
            <a:endParaRPr lang="en-IN" dirty="0"/>
          </a:p>
          <a:p>
            <a:pPr lvl="0"/>
            <a:r>
              <a:rPr lang="en-IN" dirty="0"/>
              <a:t>To identify employees with high job‑change probability</a:t>
            </a:r>
          </a:p>
          <a:p>
            <a:pPr lvl="0"/>
            <a:r>
              <a:rPr lang="en-IN" dirty="0"/>
              <a:t>To take proactive retention actions</a:t>
            </a:r>
          </a:p>
          <a:p>
            <a:pPr lvl="0"/>
            <a:r>
              <a:rPr lang="en-IN" dirty="0"/>
              <a:t>To reduce hiring costs</a:t>
            </a:r>
          </a:p>
          <a:p>
            <a:pPr lvl="0"/>
            <a:r>
              <a:rPr lang="en-IN" dirty="0"/>
              <a:t>To improve workforce stability</a:t>
            </a:r>
          </a:p>
          <a:p>
            <a:endParaRPr lang="en-IN" dirty="0"/>
          </a:p>
        </p:txBody>
      </p:sp>
    </p:spTree>
    <p:extLst>
      <p:ext uri="{BB962C8B-B14F-4D97-AF65-F5344CB8AC3E}">
        <p14:creationId xmlns:p14="http://schemas.microsoft.com/office/powerpoint/2010/main" val="3072678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4B2EB-E91D-5AE6-83C5-7B74F7035069}"/>
              </a:ext>
            </a:extLst>
          </p:cNvPr>
          <p:cNvSpPr>
            <a:spLocks noGrp="1"/>
          </p:cNvSpPr>
          <p:nvPr>
            <p:ph type="title"/>
          </p:nvPr>
        </p:nvSpPr>
        <p:spPr/>
        <p:txBody>
          <a:bodyPr/>
          <a:lstStyle/>
          <a:p>
            <a:r>
              <a:rPr lang="en-IN" dirty="0"/>
              <a:t>Dataset Description</a:t>
            </a:r>
          </a:p>
        </p:txBody>
      </p:sp>
      <p:sp>
        <p:nvSpPr>
          <p:cNvPr id="3" name="Content Placeholder 2">
            <a:extLst>
              <a:ext uri="{FF2B5EF4-FFF2-40B4-BE49-F238E27FC236}">
                <a16:creationId xmlns:a16="http://schemas.microsoft.com/office/drawing/2014/main" id="{65BEAB59-09E5-51DC-E27E-EF5E5B280847}"/>
              </a:ext>
            </a:extLst>
          </p:cNvPr>
          <p:cNvSpPr>
            <a:spLocks noGrp="1"/>
          </p:cNvSpPr>
          <p:nvPr>
            <p:ph idx="1"/>
          </p:nvPr>
        </p:nvSpPr>
        <p:spPr>
          <a:xfrm>
            <a:off x="457200" y="1110343"/>
            <a:ext cx="11277599" cy="5290457"/>
          </a:xfrm>
        </p:spPr>
        <p:txBody>
          <a:bodyPr>
            <a:normAutofit fontScale="62500" lnSpcReduction="20000"/>
          </a:bodyPr>
          <a:lstStyle/>
          <a:p>
            <a:r>
              <a:rPr lang="en-IN" b="1" dirty="0"/>
              <a:t>Total Records</a:t>
            </a:r>
          </a:p>
          <a:p>
            <a:pPr lvl="0"/>
            <a:r>
              <a:rPr lang="en-IN" b="1" dirty="0"/>
              <a:t>Training Data:</a:t>
            </a:r>
            <a:r>
              <a:rPr lang="en-IN" dirty="0"/>
              <a:t> 19,158 rows</a:t>
            </a:r>
          </a:p>
          <a:p>
            <a:pPr lvl="0"/>
            <a:r>
              <a:rPr lang="en-IN" b="1" dirty="0"/>
              <a:t>Test Data:</a:t>
            </a:r>
            <a:r>
              <a:rPr lang="en-IN" dirty="0"/>
              <a:t> 2129 rows</a:t>
            </a:r>
          </a:p>
          <a:p>
            <a:r>
              <a:rPr lang="en-IN" b="1" dirty="0"/>
              <a:t>Key Features</a:t>
            </a:r>
          </a:p>
          <a:p>
            <a:pPr lvl="0"/>
            <a:r>
              <a:rPr lang="en-IN" b="1" dirty="0"/>
              <a:t>city:</a:t>
            </a:r>
            <a:r>
              <a:rPr lang="en-IN" dirty="0"/>
              <a:t> Employee’s city</a:t>
            </a:r>
          </a:p>
          <a:p>
            <a:pPr lvl="0"/>
            <a:r>
              <a:rPr lang="en-IN" b="1" dirty="0" err="1"/>
              <a:t>city_development_index</a:t>
            </a:r>
            <a:r>
              <a:rPr lang="en-IN" b="1" dirty="0"/>
              <a:t>:</a:t>
            </a:r>
            <a:r>
              <a:rPr lang="en-IN" dirty="0"/>
              <a:t> Development score of the city (0–1)</a:t>
            </a:r>
          </a:p>
          <a:p>
            <a:pPr lvl="0"/>
            <a:r>
              <a:rPr lang="en-IN" b="1" dirty="0"/>
              <a:t>gender:</a:t>
            </a:r>
            <a:r>
              <a:rPr lang="en-IN" dirty="0"/>
              <a:t> Male / Female / Other</a:t>
            </a:r>
          </a:p>
          <a:p>
            <a:pPr lvl="0"/>
            <a:r>
              <a:rPr lang="en-IN" b="1" dirty="0" err="1"/>
              <a:t>relevent_experience</a:t>
            </a:r>
            <a:r>
              <a:rPr lang="en-IN" b="1" dirty="0"/>
              <a:t>:</a:t>
            </a:r>
            <a:r>
              <a:rPr lang="en-IN" dirty="0"/>
              <a:t> Has relevant experience or not</a:t>
            </a:r>
          </a:p>
          <a:p>
            <a:pPr lvl="0"/>
            <a:r>
              <a:rPr lang="en-IN" b="1" dirty="0" err="1"/>
              <a:t>enrolled_university</a:t>
            </a:r>
            <a:r>
              <a:rPr lang="en-IN" b="1" dirty="0"/>
              <a:t>:</a:t>
            </a:r>
            <a:r>
              <a:rPr lang="en-IN" dirty="0"/>
              <a:t> Full‑time / Part‑time / No </a:t>
            </a:r>
            <a:r>
              <a:rPr lang="en-IN" dirty="0" err="1"/>
              <a:t>enrollment</a:t>
            </a:r>
            <a:endParaRPr lang="en-IN" dirty="0"/>
          </a:p>
          <a:p>
            <a:pPr lvl="0"/>
            <a:r>
              <a:rPr lang="en-IN" b="1" dirty="0" err="1"/>
              <a:t>education_level</a:t>
            </a:r>
            <a:r>
              <a:rPr lang="en-IN" b="1" dirty="0"/>
              <a:t>:</a:t>
            </a:r>
            <a:r>
              <a:rPr lang="en-IN" dirty="0"/>
              <a:t> Graduate / Masters / PhD / etc.</a:t>
            </a:r>
          </a:p>
          <a:p>
            <a:pPr lvl="0"/>
            <a:r>
              <a:rPr lang="en-IN" b="1" dirty="0" err="1"/>
              <a:t>major_discipline</a:t>
            </a:r>
            <a:r>
              <a:rPr lang="en-IN" b="1" dirty="0"/>
              <a:t>:</a:t>
            </a:r>
            <a:r>
              <a:rPr lang="en-IN" dirty="0"/>
              <a:t> STEM / Business / Arts / Humanities</a:t>
            </a:r>
          </a:p>
          <a:p>
            <a:pPr lvl="0"/>
            <a:r>
              <a:rPr lang="en-IN" b="1" dirty="0"/>
              <a:t>experience:</a:t>
            </a:r>
            <a:r>
              <a:rPr lang="en-IN" dirty="0"/>
              <a:t> Total years of experience</a:t>
            </a:r>
          </a:p>
          <a:p>
            <a:pPr lvl="0"/>
            <a:r>
              <a:rPr lang="en-IN" b="1" dirty="0" err="1"/>
              <a:t>company_size</a:t>
            </a:r>
            <a:r>
              <a:rPr lang="en-IN" b="1" dirty="0"/>
              <a:t>:</a:t>
            </a:r>
            <a:r>
              <a:rPr lang="en-IN" dirty="0"/>
              <a:t> Size of current company</a:t>
            </a:r>
          </a:p>
          <a:p>
            <a:pPr lvl="0"/>
            <a:r>
              <a:rPr lang="en-IN" b="1" dirty="0" err="1"/>
              <a:t>company_type</a:t>
            </a:r>
            <a:r>
              <a:rPr lang="en-IN" b="1" dirty="0"/>
              <a:t>:</a:t>
            </a:r>
            <a:r>
              <a:rPr lang="en-IN" dirty="0"/>
              <a:t> Type of company (Pvt Ltd, Startup, NGO, etc.)</a:t>
            </a:r>
          </a:p>
          <a:p>
            <a:pPr lvl="0"/>
            <a:r>
              <a:rPr lang="en-IN" b="1" dirty="0" err="1"/>
              <a:t>last_new_job</a:t>
            </a:r>
            <a:r>
              <a:rPr lang="en-IN" b="1" dirty="0"/>
              <a:t>:</a:t>
            </a:r>
            <a:r>
              <a:rPr lang="en-IN" dirty="0"/>
              <a:t> Years since last job change</a:t>
            </a:r>
          </a:p>
          <a:p>
            <a:pPr lvl="0"/>
            <a:r>
              <a:rPr lang="en-IN" b="1" dirty="0" err="1"/>
              <a:t>training_hours</a:t>
            </a:r>
            <a:r>
              <a:rPr lang="en-IN" b="1" dirty="0"/>
              <a:t>:</a:t>
            </a:r>
            <a:r>
              <a:rPr lang="en-IN" dirty="0"/>
              <a:t> Total training hours completed</a:t>
            </a:r>
          </a:p>
          <a:p>
            <a:r>
              <a:rPr lang="en-IN" b="1" dirty="0"/>
              <a:t>Target Variable</a:t>
            </a:r>
          </a:p>
          <a:p>
            <a:pPr lvl="0"/>
            <a:r>
              <a:rPr lang="en-IN" b="1" dirty="0"/>
              <a:t>target:</a:t>
            </a:r>
            <a:endParaRPr lang="en-IN" dirty="0"/>
          </a:p>
          <a:p>
            <a:pPr lvl="1"/>
            <a:r>
              <a:rPr lang="en-IN" b="1" dirty="0"/>
              <a:t>0 → Not looking for job change</a:t>
            </a:r>
            <a:endParaRPr lang="en-IN" dirty="0"/>
          </a:p>
          <a:p>
            <a:pPr lvl="1"/>
            <a:r>
              <a:rPr lang="en-IN" b="1" dirty="0"/>
              <a:t>1 → Looking for job change</a:t>
            </a:r>
            <a:endParaRPr lang="en-IN" dirty="0"/>
          </a:p>
          <a:p>
            <a:endParaRPr lang="en-IN" dirty="0"/>
          </a:p>
        </p:txBody>
      </p:sp>
    </p:spTree>
    <p:extLst>
      <p:ext uri="{BB962C8B-B14F-4D97-AF65-F5344CB8AC3E}">
        <p14:creationId xmlns:p14="http://schemas.microsoft.com/office/powerpoint/2010/main" val="3847637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96FE1-5CDC-38E7-8B54-CE39F7DAFD01}"/>
              </a:ext>
            </a:extLst>
          </p:cNvPr>
          <p:cNvSpPr>
            <a:spLocks noGrp="1"/>
          </p:cNvSpPr>
          <p:nvPr>
            <p:ph type="title"/>
          </p:nvPr>
        </p:nvSpPr>
        <p:spPr/>
        <p:txBody>
          <a:bodyPr/>
          <a:lstStyle/>
          <a:p>
            <a:r>
              <a:rPr lang="en-IN" dirty="0"/>
              <a:t>EDA Insights</a:t>
            </a:r>
          </a:p>
        </p:txBody>
      </p:sp>
      <p:sp>
        <p:nvSpPr>
          <p:cNvPr id="3" name="Content Placeholder 2">
            <a:extLst>
              <a:ext uri="{FF2B5EF4-FFF2-40B4-BE49-F238E27FC236}">
                <a16:creationId xmlns:a16="http://schemas.microsoft.com/office/drawing/2014/main" id="{C16FDA44-67EB-99DF-C562-D1BE0E37B6F8}"/>
              </a:ext>
            </a:extLst>
          </p:cNvPr>
          <p:cNvSpPr>
            <a:spLocks noGrp="1"/>
          </p:cNvSpPr>
          <p:nvPr>
            <p:ph idx="1"/>
          </p:nvPr>
        </p:nvSpPr>
        <p:spPr/>
        <p:txBody>
          <a:bodyPr/>
          <a:lstStyle/>
          <a:p>
            <a:r>
              <a:rPr lang="en-IN" b="1" dirty="0"/>
              <a:t>Key Insights from Exploratory Data Analysis (EDA)</a:t>
            </a:r>
          </a:p>
          <a:p>
            <a:pPr lvl="0"/>
            <a:r>
              <a:rPr lang="en-IN" b="1" dirty="0"/>
              <a:t>Target variable is imbalanced</a:t>
            </a:r>
            <a:r>
              <a:rPr lang="en-IN" dirty="0"/>
              <a:t> Most employees are </a:t>
            </a:r>
            <a:r>
              <a:rPr lang="en-IN" b="1" dirty="0"/>
              <a:t>not</a:t>
            </a:r>
            <a:r>
              <a:rPr lang="en-IN" dirty="0"/>
              <a:t> looking for a job change (target = 0). SMOTE was required to balance the dataset.</a:t>
            </a:r>
          </a:p>
          <a:p>
            <a:pPr lvl="0"/>
            <a:r>
              <a:rPr lang="en-IN" b="1" dirty="0"/>
              <a:t>City Development Index is highly influential</a:t>
            </a:r>
            <a:r>
              <a:rPr lang="en-IN" dirty="0"/>
              <a:t> Employees from highly developed cities show a </a:t>
            </a:r>
            <a:r>
              <a:rPr lang="en-IN" b="1" dirty="0"/>
              <a:t>higher probability</a:t>
            </a:r>
            <a:r>
              <a:rPr lang="en-IN" dirty="0"/>
              <a:t> of job change.</a:t>
            </a:r>
          </a:p>
          <a:p>
            <a:pPr lvl="0"/>
            <a:r>
              <a:rPr lang="en-IN" b="1" dirty="0"/>
              <a:t>Relevant experience matters</a:t>
            </a:r>
            <a:r>
              <a:rPr lang="en-IN" dirty="0"/>
              <a:t> Employees with relevant experience behave differently compared to those without it.</a:t>
            </a:r>
          </a:p>
          <a:p>
            <a:pPr lvl="0"/>
            <a:r>
              <a:rPr lang="en-IN" b="1" dirty="0"/>
              <a:t>Training hours vary widely</a:t>
            </a:r>
            <a:r>
              <a:rPr lang="en-IN" dirty="0"/>
              <a:t> Higher training hours correlate with </a:t>
            </a:r>
            <a:r>
              <a:rPr lang="en-IN" b="1" dirty="0"/>
              <a:t>higher job-change probability</a:t>
            </a:r>
            <a:r>
              <a:rPr lang="en-IN" dirty="0"/>
              <a:t> in some cases.</a:t>
            </a:r>
          </a:p>
          <a:p>
            <a:pPr lvl="0"/>
            <a:r>
              <a:rPr lang="en-IN" b="1" dirty="0"/>
              <a:t>Company type affects job change</a:t>
            </a:r>
            <a:r>
              <a:rPr lang="en-IN" dirty="0"/>
              <a:t> Employees in startups and NGOs show different job-change patterns compared to Pvt Ltd companies.</a:t>
            </a:r>
          </a:p>
          <a:p>
            <a:pPr lvl="0"/>
            <a:r>
              <a:rPr lang="en-IN" b="1" dirty="0"/>
              <a:t>Experience distribution is uneven</a:t>
            </a:r>
            <a:r>
              <a:rPr lang="en-IN" dirty="0"/>
              <a:t> Many employees have less than 5 years of experience, influencing job-change </a:t>
            </a:r>
            <a:r>
              <a:rPr lang="en-IN" dirty="0" err="1"/>
              <a:t>behavior</a:t>
            </a:r>
            <a:r>
              <a:rPr lang="en-IN" dirty="0"/>
              <a:t>.</a:t>
            </a:r>
          </a:p>
          <a:p>
            <a:pPr lvl="0"/>
            <a:r>
              <a:rPr lang="en-IN" b="1" dirty="0"/>
              <a:t>Missing values present in multiple columns</a:t>
            </a:r>
            <a:r>
              <a:rPr lang="en-IN" dirty="0"/>
              <a:t> Required imputation for categorical and numerical features.</a:t>
            </a:r>
          </a:p>
          <a:p>
            <a:endParaRPr lang="en-IN" dirty="0"/>
          </a:p>
        </p:txBody>
      </p:sp>
    </p:spTree>
    <p:extLst>
      <p:ext uri="{BB962C8B-B14F-4D97-AF65-F5344CB8AC3E}">
        <p14:creationId xmlns:p14="http://schemas.microsoft.com/office/powerpoint/2010/main" val="3950405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4B9F7-163E-6602-7192-71304ECE0174}"/>
              </a:ext>
            </a:extLst>
          </p:cNvPr>
          <p:cNvSpPr>
            <a:spLocks noGrp="1"/>
          </p:cNvSpPr>
          <p:nvPr>
            <p:ph type="title"/>
          </p:nvPr>
        </p:nvSpPr>
        <p:spPr/>
        <p:txBody>
          <a:bodyPr>
            <a:normAutofit fontScale="90000"/>
          </a:bodyPr>
          <a:lstStyle/>
          <a:p>
            <a:r>
              <a:rPr lang="en-IN" dirty="0"/>
              <a:t>Data Preprocessing</a:t>
            </a:r>
            <a:br>
              <a:rPr lang="en-IN" dirty="0"/>
            </a:br>
            <a:endParaRPr lang="en-IN" dirty="0"/>
          </a:p>
        </p:txBody>
      </p:sp>
      <p:sp>
        <p:nvSpPr>
          <p:cNvPr id="3" name="Content Placeholder 2">
            <a:extLst>
              <a:ext uri="{FF2B5EF4-FFF2-40B4-BE49-F238E27FC236}">
                <a16:creationId xmlns:a16="http://schemas.microsoft.com/office/drawing/2014/main" id="{7CA69204-8461-F32D-0DB3-4F31E144FAA8}"/>
              </a:ext>
            </a:extLst>
          </p:cNvPr>
          <p:cNvSpPr>
            <a:spLocks noGrp="1"/>
          </p:cNvSpPr>
          <p:nvPr>
            <p:ph idx="1"/>
          </p:nvPr>
        </p:nvSpPr>
        <p:spPr>
          <a:xfrm>
            <a:off x="457200" y="1073020"/>
            <a:ext cx="11277599" cy="5327780"/>
          </a:xfrm>
        </p:spPr>
        <p:txBody>
          <a:bodyPr>
            <a:normAutofit/>
          </a:bodyPr>
          <a:lstStyle/>
          <a:p>
            <a:pPr marL="342900" indent="-342900">
              <a:buAutoNum type="arabicPeriod"/>
            </a:pPr>
            <a:r>
              <a:rPr lang="en-IN" dirty="0"/>
              <a:t>Handling Missing Values</a:t>
            </a:r>
          </a:p>
          <a:p>
            <a:pPr lvl="0"/>
            <a:r>
              <a:rPr lang="en-IN" dirty="0"/>
              <a:t>Numerical columns → filled using </a:t>
            </a:r>
            <a:r>
              <a:rPr lang="en-IN" b="1" dirty="0"/>
              <a:t>median</a:t>
            </a:r>
            <a:endParaRPr lang="en-IN" dirty="0"/>
          </a:p>
          <a:p>
            <a:pPr lvl="0"/>
            <a:r>
              <a:rPr lang="en-IN" dirty="0"/>
              <a:t>Categorical columns → filled using </a:t>
            </a:r>
            <a:r>
              <a:rPr lang="en-IN" b="1" dirty="0"/>
              <a:t>most frequent value</a:t>
            </a:r>
            <a:endParaRPr lang="en-IN" dirty="0"/>
          </a:p>
          <a:p>
            <a:pPr lvl="0"/>
            <a:r>
              <a:rPr lang="en-IN" dirty="0"/>
              <a:t>Ensures dataset is complete and consistent</a:t>
            </a:r>
          </a:p>
          <a:p>
            <a:r>
              <a:rPr lang="en-IN" b="1" dirty="0"/>
              <a:t>2. Encoding Categorical Features</a:t>
            </a:r>
          </a:p>
          <a:p>
            <a:pPr lvl="0"/>
            <a:r>
              <a:rPr lang="en-IN" dirty="0"/>
              <a:t>Used </a:t>
            </a:r>
            <a:r>
              <a:rPr lang="en-IN" b="1" dirty="0"/>
              <a:t>One‑Hot Encoding</a:t>
            </a:r>
            <a:endParaRPr lang="en-IN" dirty="0"/>
          </a:p>
          <a:p>
            <a:pPr lvl="0"/>
            <a:r>
              <a:rPr lang="en-IN" dirty="0"/>
              <a:t>Converts text categories (gender, </a:t>
            </a:r>
            <a:r>
              <a:rPr lang="en-IN" dirty="0" err="1"/>
              <a:t>company_type</a:t>
            </a:r>
            <a:r>
              <a:rPr lang="en-IN" dirty="0"/>
              <a:t>, etc.) into numerical format</a:t>
            </a:r>
          </a:p>
          <a:p>
            <a:pPr lvl="0"/>
            <a:r>
              <a:rPr lang="en-IN" dirty="0"/>
              <a:t>Prevents model from misinterpreting categories</a:t>
            </a:r>
          </a:p>
          <a:p>
            <a:pPr lvl="0"/>
            <a:r>
              <a:rPr lang="en-IN" dirty="0"/>
              <a:t>v</a:t>
            </a:r>
          </a:p>
          <a:p>
            <a:r>
              <a:rPr lang="en-IN" b="1" dirty="0"/>
              <a:t>3. Scaling Numerical Features</a:t>
            </a:r>
          </a:p>
          <a:p>
            <a:pPr lvl="0"/>
            <a:r>
              <a:rPr lang="en-IN" dirty="0"/>
              <a:t>Applied </a:t>
            </a:r>
            <a:r>
              <a:rPr lang="en-IN" b="1" dirty="0" err="1"/>
              <a:t>StandardScaler</a:t>
            </a:r>
            <a:endParaRPr lang="en-IN" dirty="0"/>
          </a:p>
          <a:p>
            <a:pPr lvl="0"/>
            <a:r>
              <a:rPr lang="en-IN" dirty="0"/>
              <a:t>Important for models sensitive to feature magnitude</a:t>
            </a:r>
          </a:p>
          <a:p>
            <a:pPr lvl="0"/>
            <a:r>
              <a:rPr lang="en-IN" dirty="0"/>
              <a:t>Helps improve model stability and performance</a:t>
            </a:r>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p:txBody>
      </p:sp>
    </p:spTree>
    <p:extLst>
      <p:ext uri="{BB962C8B-B14F-4D97-AF65-F5344CB8AC3E}">
        <p14:creationId xmlns:p14="http://schemas.microsoft.com/office/powerpoint/2010/main" val="3349271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5B7F-3D61-A199-37EC-BF7F0B718A17}"/>
              </a:ext>
            </a:extLst>
          </p:cNvPr>
          <p:cNvSpPr>
            <a:spLocks noGrp="1"/>
          </p:cNvSpPr>
          <p:nvPr>
            <p:ph type="title"/>
          </p:nvPr>
        </p:nvSpPr>
        <p:spPr>
          <a:xfrm>
            <a:off x="457200" y="-83977"/>
            <a:ext cx="11277599" cy="83977"/>
          </a:xfrm>
        </p:spPr>
        <p:txBody>
          <a:bodyPr>
            <a:normAutofit fontScale="90000"/>
          </a:bodyPr>
          <a:lstStyle/>
          <a:p>
            <a:r>
              <a:rPr lang="en-US" dirty="0"/>
              <a:t>-</a:t>
            </a:r>
            <a:br>
              <a:rPr lang="en-US" dirty="0"/>
            </a:br>
            <a:endParaRPr lang="en-IN" dirty="0"/>
          </a:p>
        </p:txBody>
      </p:sp>
      <p:sp>
        <p:nvSpPr>
          <p:cNvPr id="3" name="Content Placeholder 2">
            <a:extLst>
              <a:ext uri="{FF2B5EF4-FFF2-40B4-BE49-F238E27FC236}">
                <a16:creationId xmlns:a16="http://schemas.microsoft.com/office/drawing/2014/main" id="{627B9BA3-6336-39A6-D451-0703AD6FAA03}"/>
              </a:ext>
            </a:extLst>
          </p:cNvPr>
          <p:cNvSpPr>
            <a:spLocks noGrp="1"/>
          </p:cNvSpPr>
          <p:nvPr>
            <p:ph idx="1"/>
          </p:nvPr>
        </p:nvSpPr>
        <p:spPr>
          <a:xfrm>
            <a:off x="457200" y="298581"/>
            <a:ext cx="11196735" cy="6102220"/>
          </a:xfrm>
        </p:spPr>
        <p:txBody>
          <a:bodyPr/>
          <a:lstStyle/>
          <a:p>
            <a:r>
              <a:rPr lang="en-IN" b="1" dirty="0"/>
              <a:t>4. Handling Imbalanced Target</a:t>
            </a:r>
          </a:p>
          <a:p>
            <a:pPr lvl="0"/>
            <a:r>
              <a:rPr lang="en-IN" dirty="0"/>
              <a:t>Target variable (job change) is imbalanced</a:t>
            </a:r>
          </a:p>
          <a:p>
            <a:pPr lvl="0"/>
            <a:r>
              <a:rPr lang="en-IN" dirty="0"/>
              <a:t>Applied </a:t>
            </a:r>
            <a:r>
              <a:rPr lang="en-IN" b="1" dirty="0"/>
              <a:t>SMOTE (Synthetic Minority Oversampling Technique)</a:t>
            </a:r>
            <a:endParaRPr lang="en-IN" dirty="0"/>
          </a:p>
          <a:p>
            <a:pPr lvl="0"/>
            <a:r>
              <a:rPr lang="en-IN" dirty="0"/>
              <a:t>Balances classes by generating synthetic samples</a:t>
            </a:r>
          </a:p>
          <a:p>
            <a:pPr lvl="0"/>
            <a:r>
              <a:rPr lang="en-IN" dirty="0"/>
              <a:t>Improves model learning for minority class</a:t>
            </a:r>
          </a:p>
          <a:p>
            <a:r>
              <a:rPr lang="en-IN" b="1" dirty="0"/>
              <a:t>5. Train–Validation Split</a:t>
            </a:r>
          </a:p>
          <a:p>
            <a:pPr lvl="0"/>
            <a:r>
              <a:rPr lang="en-IN" dirty="0"/>
              <a:t>Split dataset into </a:t>
            </a:r>
            <a:r>
              <a:rPr lang="en-IN" b="1" dirty="0"/>
              <a:t>80% training</a:t>
            </a:r>
            <a:r>
              <a:rPr lang="en-IN" dirty="0"/>
              <a:t> and </a:t>
            </a:r>
            <a:r>
              <a:rPr lang="en-IN" b="1" dirty="0"/>
              <a:t>20% validation</a:t>
            </a:r>
            <a:endParaRPr lang="en-IN" dirty="0"/>
          </a:p>
          <a:p>
            <a:pPr lvl="0"/>
            <a:r>
              <a:rPr lang="en-IN" dirty="0"/>
              <a:t>Ensures unbiased model evaluation</a:t>
            </a:r>
          </a:p>
          <a:p>
            <a:r>
              <a:rPr lang="en-IN" b="1" dirty="0"/>
              <a:t>6. Pipeline Creation</a:t>
            </a:r>
          </a:p>
          <a:p>
            <a:pPr lvl="0"/>
            <a:r>
              <a:rPr lang="en-IN" dirty="0"/>
              <a:t>Combined preprocessing + SMOTE + model into a single pipeline</a:t>
            </a:r>
          </a:p>
          <a:p>
            <a:pPr lvl="0"/>
            <a:r>
              <a:rPr lang="en-IN"/>
              <a:t>Ensures consistent transformation during training and prediction</a:t>
            </a:r>
          </a:p>
          <a:p>
            <a:pPr lvl="0"/>
            <a:endParaRPr lang="en-IN" dirty="0"/>
          </a:p>
          <a:p>
            <a:endParaRPr lang="en-IN" dirty="0"/>
          </a:p>
        </p:txBody>
      </p:sp>
    </p:spTree>
    <p:extLst>
      <p:ext uri="{BB962C8B-B14F-4D97-AF65-F5344CB8AC3E}">
        <p14:creationId xmlns:p14="http://schemas.microsoft.com/office/powerpoint/2010/main" val="333665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AEDF-12EE-82B2-7F98-3C5D75F48BE4}"/>
              </a:ext>
            </a:extLst>
          </p:cNvPr>
          <p:cNvSpPr>
            <a:spLocks noGrp="1"/>
          </p:cNvSpPr>
          <p:nvPr>
            <p:ph type="title"/>
          </p:nvPr>
        </p:nvSpPr>
        <p:spPr>
          <a:xfrm flipV="1">
            <a:off x="457200" y="200025"/>
            <a:ext cx="3810000" cy="657224"/>
          </a:xfrm>
        </p:spPr>
        <p:txBody>
          <a:bodyPr>
            <a:normAutofit fontScale="90000"/>
          </a:bodyPr>
          <a:lstStyle/>
          <a:p>
            <a:r>
              <a:rPr lang="en-US" dirty="0"/>
              <a:t>-</a:t>
            </a:r>
            <a:br>
              <a:rPr lang="en-US" dirty="0"/>
            </a:br>
            <a:endParaRPr lang="en-IN" dirty="0"/>
          </a:p>
        </p:txBody>
      </p:sp>
      <p:sp>
        <p:nvSpPr>
          <p:cNvPr id="3" name="Text Placeholder 2">
            <a:extLst>
              <a:ext uri="{FF2B5EF4-FFF2-40B4-BE49-F238E27FC236}">
                <a16:creationId xmlns:a16="http://schemas.microsoft.com/office/drawing/2014/main" id="{6CD15990-8263-5BAA-C6EB-314A0F6A1CEC}"/>
              </a:ext>
            </a:extLst>
          </p:cNvPr>
          <p:cNvSpPr>
            <a:spLocks noGrp="1"/>
          </p:cNvSpPr>
          <p:nvPr>
            <p:ph type="body" sz="half" idx="2"/>
          </p:nvPr>
        </p:nvSpPr>
        <p:spPr>
          <a:xfrm>
            <a:off x="457200" y="1143000"/>
            <a:ext cx="5638800" cy="5257800"/>
          </a:xfrm>
        </p:spPr>
        <p:txBody>
          <a:bodyPr/>
          <a:lstStyle/>
          <a:p>
            <a:r>
              <a:rPr lang="en-IN" b="1" dirty="0"/>
              <a:t>Target Variable Distribution</a:t>
            </a:r>
          </a:p>
          <a:p>
            <a:endParaRPr lang="en-IN" b="1" dirty="0"/>
          </a:p>
          <a:p>
            <a:endParaRPr lang="en-IN" b="1" dirty="0"/>
          </a:p>
          <a:p>
            <a:pPr lvl="0"/>
            <a:r>
              <a:rPr lang="en-IN" dirty="0"/>
              <a:t>1. The chart shows the distribution of the target variable (job change: 0 or 1).</a:t>
            </a:r>
          </a:p>
          <a:p>
            <a:pPr lvl="0"/>
            <a:endParaRPr lang="en-IN" dirty="0"/>
          </a:p>
          <a:p>
            <a:pPr lvl="0"/>
            <a:endParaRPr lang="en-IN" dirty="0"/>
          </a:p>
          <a:p>
            <a:pPr lvl="0"/>
            <a:r>
              <a:rPr lang="en-IN" b="1" dirty="0"/>
              <a:t>2. Class 0 (Not looking for job change)</a:t>
            </a:r>
            <a:r>
              <a:rPr lang="en-IN" dirty="0"/>
              <a:t> has a very high count — around </a:t>
            </a:r>
            <a:r>
              <a:rPr lang="en-IN" b="1" dirty="0"/>
              <a:t>14,500</a:t>
            </a:r>
            <a:r>
              <a:rPr lang="en-IN" dirty="0"/>
              <a:t> employees.</a:t>
            </a:r>
          </a:p>
          <a:p>
            <a:pPr lvl="0"/>
            <a:endParaRPr lang="en-IN" dirty="0"/>
          </a:p>
          <a:p>
            <a:pPr lvl="0"/>
            <a:r>
              <a:rPr lang="en-IN" b="1" dirty="0"/>
              <a:t>3. Class 1 (Looking for job change)</a:t>
            </a:r>
            <a:r>
              <a:rPr lang="en-IN" dirty="0"/>
              <a:t> has a much smaller count — around </a:t>
            </a:r>
            <a:r>
              <a:rPr lang="en-IN" b="1" dirty="0"/>
              <a:t>5,000</a:t>
            </a:r>
            <a:r>
              <a:rPr lang="en-IN" dirty="0"/>
              <a:t> employees.</a:t>
            </a:r>
          </a:p>
          <a:p>
            <a:pPr lvl="0"/>
            <a:endParaRPr lang="en-IN" dirty="0"/>
          </a:p>
          <a:p>
            <a:pPr lvl="0"/>
            <a:r>
              <a:rPr lang="en-IN" dirty="0"/>
              <a:t>4. This indicates a </a:t>
            </a:r>
            <a:r>
              <a:rPr lang="en-IN" b="1" dirty="0"/>
              <a:t>strong class imbalance</a:t>
            </a:r>
            <a:r>
              <a:rPr lang="en-IN" dirty="0"/>
              <a:t> in the dataset.</a:t>
            </a:r>
          </a:p>
          <a:p>
            <a:pPr lvl="0"/>
            <a:endParaRPr lang="en-IN" dirty="0"/>
          </a:p>
          <a:p>
            <a:pPr lvl="0"/>
            <a:endParaRPr lang="en-IN" dirty="0"/>
          </a:p>
          <a:p>
            <a:pPr lvl="0"/>
            <a:r>
              <a:rPr lang="en-IN" dirty="0"/>
              <a:t>5. Because of this imbalance, techniques like </a:t>
            </a:r>
            <a:r>
              <a:rPr lang="en-IN" b="1" dirty="0"/>
              <a:t>SMOTE</a:t>
            </a:r>
            <a:r>
              <a:rPr lang="en-IN" dirty="0"/>
              <a:t> were required to balance the data before training the model.</a:t>
            </a:r>
          </a:p>
          <a:p>
            <a:endParaRPr lang="en-IN" dirty="0"/>
          </a:p>
        </p:txBody>
      </p:sp>
      <p:pic>
        <p:nvPicPr>
          <p:cNvPr id="6" name="Content Placeholder 5">
            <a:extLst>
              <a:ext uri="{FF2B5EF4-FFF2-40B4-BE49-F238E27FC236}">
                <a16:creationId xmlns:a16="http://schemas.microsoft.com/office/drawing/2014/main" id="{E0E3C545-5151-6045-0112-8E30448524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33881" y="1143000"/>
            <a:ext cx="5096413" cy="5257800"/>
          </a:xfrm>
          <a:prstGeom prst="rect">
            <a:avLst/>
          </a:prstGeom>
        </p:spPr>
      </p:pic>
    </p:spTree>
    <p:extLst>
      <p:ext uri="{BB962C8B-B14F-4D97-AF65-F5344CB8AC3E}">
        <p14:creationId xmlns:p14="http://schemas.microsoft.com/office/powerpoint/2010/main" val="2392296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7EF5-A778-D92F-B957-089C927369A2}"/>
              </a:ext>
            </a:extLst>
          </p:cNvPr>
          <p:cNvSpPr>
            <a:spLocks noGrp="1"/>
          </p:cNvSpPr>
          <p:nvPr>
            <p:ph type="title"/>
          </p:nvPr>
        </p:nvSpPr>
        <p:spPr>
          <a:xfrm>
            <a:off x="457200" y="490127"/>
            <a:ext cx="11277599" cy="2329273"/>
          </a:xfrm>
        </p:spPr>
        <p:txBody>
          <a:bodyPr>
            <a:normAutofit/>
          </a:bodyPr>
          <a:lstStyle/>
          <a:p>
            <a:r>
              <a:rPr lang="en-IN" sz="2800" b="1" dirty="0"/>
              <a:t>Categorical Feature Distribution</a:t>
            </a:r>
            <a:br>
              <a:rPr lang="en-IN" sz="1000" b="1" dirty="0"/>
            </a:br>
            <a:br>
              <a:rPr lang="en-IN" sz="1000" b="1" dirty="0"/>
            </a:br>
            <a:br>
              <a:rPr lang="en-IN" sz="1000" b="1" dirty="0"/>
            </a:br>
            <a:r>
              <a:rPr lang="en-IN" sz="1400" b="1" dirty="0"/>
              <a:t>1. Gender Distribution                                                     2.Relevant Experience                                                                       3. Enrolled University Status</a:t>
            </a:r>
            <a:br>
              <a:rPr lang="en-IN" sz="1000" dirty="0"/>
            </a:br>
            <a:br>
              <a:rPr lang="en-IN" sz="1000" dirty="0"/>
            </a:br>
            <a:r>
              <a:rPr lang="en-IN" sz="1200" dirty="0"/>
              <a:t>.Majority of employees are </a:t>
            </a:r>
            <a:r>
              <a:rPr lang="en-IN" sz="1200" b="1" dirty="0"/>
              <a:t>Male</a:t>
            </a:r>
            <a:r>
              <a:rPr lang="en-IN" sz="1200" dirty="0"/>
              <a:t> (highest bar).                    . Most employees </a:t>
            </a:r>
            <a:r>
              <a:rPr lang="en-IN" sz="1200" b="1" dirty="0"/>
              <a:t>have relevant experience</a:t>
            </a:r>
            <a:r>
              <a:rPr lang="en-IN" sz="1200" dirty="0"/>
              <a:t> (very tall bar).                 . Majority of employees have </a:t>
            </a:r>
            <a:r>
              <a:rPr lang="en-IN" sz="1200" b="1" dirty="0"/>
              <a:t>no university </a:t>
            </a:r>
            <a:r>
              <a:rPr lang="en-IN" sz="1200" b="1" dirty="0" err="1"/>
              <a:t>enrollment</a:t>
            </a:r>
            <a:r>
              <a:rPr lang="en-IN" sz="1200" dirty="0"/>
              <a:t>.</a:t>
            </a:r>
            <a:br>
              <a:rPr lang="en-IN" sz="1200" dirty="0"/>
            </a:br>
            <a:r>
              <a:rPr lang="en-IN" sz="1200" dirty="0"/>
              <a:t> </a:t>
            </a:r>
            <a:br>
              <a:rPr lang="en-IN" sz="1200" dirty="0"/>
            </a:br>
            <a:r>
              <a:rPr lang="en-IN" sz="1200" dirty="0"/>
              <a:t>.</a:t>
            </a:r>
            <a:r>
              <a:rPr lang="en-IN" sz="1200" b="1" dirty="0"/>
              <a:t> Female</a:t>
            </a:r>
            <a:r>
              <a:rPr lang="en-IN" sz="1200" dirty="0"/>
              <a:t> employees are significantly fewer.                          . Employees with </a:t>
            </a:r>
            <a:r>
              <a:rPr lang="en-IN" sz="1200" b="1" dirty="0"/>
              <a:t>no relevant experience</a:t>
            </a:r>
            <a:r>
              <a:rPr lang="en-IN" sz="1200" dirty="0"/>
              <a:t> are much fewer.                  . A smaller portion is enrolled in </a:t>
            </a:r>
            <a:r>
              <a:rPr lang="en-IN" sz="1200" b="1" dirty="0"/>
              <a:t>full‑time courses</a:t>
            </a:r>
            <a:r>
              <a:rPr lang="en-IN" sz="1200" dirty="0"/>
              <a:t>.</a:t>
            </a:r>
            <a:br>
              <a:rPr lang="en-IN" sz="1200" dirty="0"/>
            </a:br>
            <a:br>
              <a:rPr lang="en-IN" sz="1200" dirty="0"/>
            </a:br>
            <a:r>
              <a:rPr lang="en-IN" sz="1200" dirty="0"/>
              <a:t>.</a:t>
            </a:r>
            <a:r>
              <a:rPr lang="en-IN" sz="1200" b="1" dirty="0"/>
              <a:t> Other</a:t>
            </a:r>
            <a:r>
              <a:rPr lang="en-IN" sz="1200" dirty="0"/>
              <a:t> category is almost negligible.                                       . Shows that relevant experience is common in this dataset.              .</a:t>
            </a:r>
            <a:r>
              <a:rPr lang="en-IN" sz="1200" b="1" dirty="0"/>
              <a:t> Part‑time course</a:t>
            </a:r>
            <a:r>
              <a:rPr lang="en-IN" sz="1200" dirty="0"/>
              <a:t> </a:t>
            </a:r>
            <a:r>
              <a:rPr lang="en-IN" sz="1200" dirty="0" err="1"/>
              <a:t>enrollment</a:t>
            </a:r>
            <a:r>
              <a:rPr lang="en-IN" sz="1200" dirty="0"/>
              <a:t> is the least.</a:t>
            </a:r>
            <a:br>
              <a:rPr lang="en-IN" sz="1200" dirty="0"/>
            </a:br>
            <a:br>
              <a:rPr lang="en-IN" sz="1200" dirty="0"/>
            </a:br>
            <a:r>
              <a:rPr lang="en-IN" sz="1200" dirty="0"/>
              <a:t>. Indicates dataset is </a:t>
            </a:r>
            <a:r>
              <a:rPr lang="en-IN" sz="1200" b="1" dirty="0"/>
              <a:t>gender‑imbalanced</a:t>
            </a:r>
            <a:r>
              <a:rPr lang="en-IN" sz="1200" dirty="0"/>
              <a:t>.                                                                                                                                                                       . Suggests most employees are not currently pursuing-</a:t>
            </a:r>
            <a:br>
              <a:rPr lang="en-IN" sz="1200" dirty="0"/>
            </a:br>
            <a:r>
              <a:rPr lang="en-IN" sz="1200" dirty="0"/>
              <a:t>                                                                                                                                                                                                                                                               - formal education.</a:t>
            </a:r>
          </a:p>
        </p:txBody>
      </p:sp>
      <p:pic>
        <p:nvPicPr>
          <p:cNvPr id="5" name="Content Placeholder 4">
            <a:extLst>
              <a:ext uri="{FF2B5EF4-FFF2-40B4-BE49-F238E27FC236}">
                <a16:creationId xmlns:a16="http://schemas.microsoft.com/office/drawing/2014/main" id="{45507514-E412-B2D2-21A5-FA20EF1B2F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686050"/>
            <a:ext cx="11277600" cy="4038600"/>
          </a:xfrm>
          <a:prstGeom prst="rect">
            <a:avLst/>
          </a:prstGeom>
        </p:spPr>
      </p:pic>
    </p:spTree>
    <p:extLst>
      <p:ext uri="{BB962C8B-B14F-4D97-AF65-F5344CB8AC3E}">
        <p14:creationId xmlns:p14="http://schemas.microsoft.com/office/powerpoint/2010/main" val="3215378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D17A5-CD19-C032-0CA3-373BA75AE826}"/>
              </a:ext>
            </a:extLst>
          </p:cNvPr>
          <p:cNvSpPr>
            <a:spLocks noGrp="1"/>
          </p:cNvSpPr>
          <p:nvPr>
            <p:ph type="title"/>
          </p:nvPr>
        </p:nvSpPr>
        <p:spPr>
          <a:xfrm>
            <a:off x="0" y="0"/>
            <a:ext cx="12192000" cy="3100552"/>
          </a:xfrm>
        </p:spPr>
        <p:txBody>
          <a:bodyPr>
            <a:normAutofit fontScale="90000"/>
          </a:bodyPr>
          <a:lstStyle/>
          <a:p>
            <a:r>
              <a:rPr lang="en-IN" sz="2800" dirty="0"/>
              <a:t>Categorical Feature Distribution</a:t>
            </a:r>
            <a:br>
              <a:rPr lang="en-IN" sz="2800" dirty="0"/>
            </a:br>
            <a:br>
              <a:rPr lang="en-IN" sz="2800" dirty="0"/>
            </a:br>
            <a:r>
              <a:rPr lang="en-IN" sz="1400" dirty="0"/>
              <a:t>1. Education Level Distribution                                                         2. Major Discipline Distribution                                                 3. Company Size Distribution</a:t>
            </a:r>
            <a:br>
              <a:rPr lang="en-IN" sz="1400" dirty="0"/>
            </a:br>
            <a:br>
              <a:rPr lang="en-IN" sz="1400" dirty="0"/>
            </a:br>
            <a:r>
              <a:rPr lang="en-IN" sz="1400" dirty="0"/>
              <a:t>. Most employees are </a:t>
            </a:r>
            <a:r>
              <a:rPr lang="en-IN" sz="1400" b="1" dirty="0"/>
              <a:t>Graduates</a:t>
            </a:r>
            <a:r>
              <a:rPr lang="en-IN" sz="1400" dirty="0"/>
              <a:t> (highest bar).                        . </a:t>
            </a:r>
            <a:r>
              <a:rPr lang="en-IN" sz="1400" b="1" dirty="0"/>
              <a:t>STEM</a:t>
            </a:r>
            <a:r>
              <a:rPr lang="en-IN" sz="1400" dirty="0"/>
              <a:t> is the overwhelmingly dominant discipline          .</a:t>
            </a:r>
            <a:r>
              <a:rPr lang="en-IN" sz="1400" b="1" dirty="0"/>
              <a:t> STEM</a:t>
            </a:r>
            <a:r>
              <a:rPr lang="en-IN" sz="1400" dirty="0"/>
              <a:t> is the overwhelmingly dominant discipline.</a:t>
            </a:r>
            <a:br>
              <a:rPr lang="en-IN" sz="1400" dirty="0"/>
            </a:br>
            <a:br>
              <a:rPr lang="en-IN" sz="1400" dirty="0"/>
            </a:br>
            <a:r>
              <a:rPr lang="en-IN" sz="1400" dirty="0"/>
              <a:t>. A significant number hold </a:t>
            </a:r>
            <a:r>
              <a:rPr lang="en-IN" sz="1400" b="1" dirty="0"/>
              <a:t>Masters</a:t>
            </a:r>
            <a:r>
              <a:rPr lang="en-IN" sz="1400" dirty="0"/>
              <a:t> degrees.                           . Other fields like </a:t>
            </a:r>
            <a:r>
              <a:rPr lang="en-IN" sz="1400" b="1" dirty="0"/>
              <a:t>Business</a:t>
            </a:r>
            <a:r>
              <a:rPr lang="en-IN" sz="1400" dirty="0"/>
              <a:t>, </a:t>
            </a:r>
            <a:r>
              <a:rPr lang="en-IN" sz="1400" b="1" dirty="0"/>
              <a:t>Arts</a:t>
            </a:r>
            <a:r>
              <a:rPr lang="en-IN" sz="1400" dirty="0"/>
              <a:t>, </a:t>
            </a:r>
            <a:r>
              <a:rPr lang="en-IN" sz="1400" b="1" dirty="0"/>
              <a:t>Humanities</a:t>
            </a:r>
            <a:r>
              <a:rPr lang="en-IN" sz="1400" dirty="0"/>
              <a:t>, and-           . Highest count is in </a:t>
            </a:r>
            <a:r>
              <a:rPr lang="en-IN" sz="1400" b="1" dirty="0"/>
              <a:t>50–99 employees</a:t>
            </a:r>
            <a:r>
              <a:rPr lang="en-IN" sz="1400" dirty="0"/>
              <a:t> category.</a:t>
            </a:r>
            <a:br>
              <a:rPr lang="en-IN" sz="1400" dirty="0"/>
            </a:br>
            <a:r>
              <a:rPr lang="en-IN" sz="1400" dirty="0"/>
              <a:t>                                                                                                                           -</a:t>
            </a:r>
            <a:r>
              <a:rPr lang="en-IN" sz="1400" b="1" dirty="0"/>
              <a:t> No Major</a:t>
            </a:r>
            <a:r>
              <a:rPr lang="en-IN" sz="1400" dirty="0"/>
              <a:t> have very low counts</a:t>
            </a:r>
            <a:br>
              <a:rPr lang="en-IN" sz="1400" dirty="0"/>
            </a:br>
            <a:br>
              <a:rPr lang="en-IN" sz="1400" dirty="0"/>
            </a:br>
            <a:r>
              <a:rPr lang="en-IN" sz="1400" dirty="0"/>
              <a:t>.</a:t>
            </a:r>
            <a:r>
              <a:rPr lang="en-IN" sz="1400" b="1" dirty="0"/>
              <a:t> High School</a:t>
            </a:r>
            <a:r>
              <a:rPr lang="en-IN" sz="1400" dirty="0"/>
              <a:t> and </a:t>
            </a:r>
            <a:r>
              <a:rPr lang="en-IN" sz="1400" b="1" dirty="0"/>
              <a:t>PhD</a:t>
            </a:r>
            <a:r>
              <a:rPr lang="en-IN" sz="1400" dirty="0"/>
              <a:t> categories are much smaller.           . Shows that the dataset mainly consists of </a:t>
            </a:r>
            <a:r>
              <a:rPr lang="en-IN" sz="1400" dirty="0" err="1"/>
              <a:t>techni</a:t>
            </a:r>
            <a:r>
              <a:rPr lang="en-IN" sz="1400" dirty="0"/>
              <a:t>-            .</a:t>
            </a:r>
            <a:r>
              <a:rPr lang="en-IN" sz="1400" b="1" dirty="0"/>
              <a:t> 100–500</a:t>
            </a:r>
            <a:r>
              <a:rPr lang="en-IN" sz="1400" dirty="0"/>
              <a:t> and </a:t>
            </a:r>
            <a:r>
              <a:rPr lang="en-IN" sz="1400" b="1" dirty="0"/>
              <a:t>10000+</a:t>
            </a:r>
            <a:r>
              <a:rPr lang="en-IN" sz="1400" dirty="0"/>
              <a:t> also have significant </a:t>
            </a:r>
            <a:r>
              <a:rPr lang="en-IN" sz="1400" dirty="0" err="1"/>
              <a:t>repre</a:t>
            </a:r>
            <a:r>
              <a:rPr lang="en-IN" sz="1400" dirty="0"/>
              <a:t>- </a:t>
            </a:r>
            <a:br>
              <a:rPr lang="en-IN" sz="1400" dirty="0"/>
            </a:br>
            <a:r>
              <a:rPr lang="en-IN" sz="1400" dirty="0"/>
              <a:t>                                                                                                                           - </a:t>
            </a:r>
            <a:r>
              <a:rPr lang="en-IN" sz="1400" dirty="0" err="1"/>
              <a:t>cal</a:t>
            </a:r>
            <a:r>
              <a:rPr lang="en-IN" sz="1400" dirty="0"/>
              <a:t> backgrounds.                                                                             -</a:t>
            </a:r>
            <a:r>
              <a:rPr lang="en-IN" sz="1400" dirty="0" err="1"/>
              <a:t>sentation</a:t>
            </a:r>
            <a:r>
              <a:rPr lang="en-IN" sz="1400" dirty="0"/>
              <a:t>.</a:t>
            </a:r>
            <a:br>
              <a:rPr lang="en-IN" sz="1400" dirty="0"/>
            </a:br>
            <a:br>
              <a:rPr lang="en-IN" sz="1400" dirty="0"/>
            </a:br>
            <a:r>
              <a:rPr lang="en-IN" sz="1400" dirty="0"/>
              <a:t>.</a:t>
            </a:r>
            <a:r>
              <a:rPr lang="en-IN" sz="1400" b="1" dirty="0"/>
              <a:t> Primary School</a:t>
            </a:r>
            <a:r>
              <a:rPr lang="en-IN" sz="1400" dirty="0"/>
              <a:t> has the lowest count.                                                                                                                                                             . Smaller companies (&lt;10, 10–49) and mid‑range</a:t>
            </a:r>
            <a:br>
              <a:rPr lang="en-IN" sz="1400" dirty="0"/>
            </a:br>
            <a:r>
              <a:rPr lang="en-IN" sz="1400" dirty="0"/>
              <a:t>                                                                                                                                                                                                                                                -companies (500–999, 1000–4999) have moderate counts.</a:t>
            </a:r>
            <a:br>
              <a:rPr lang="en-IN" sz="1400" dirty="0"/>
            </a:br>
            <a:br>
              <a:rPr lang="en-IN" sz="1400" dirty="0"/>
            </a:br>
            <a:r>
              <a:rPr lang="en-IN" sz="1400" dirty="0"/>
              <a:t>. Indicates that the dataset is dominated by well‑                                                                                                                                       . Indicates diverse company size distribution in the dataset.</a:t>
            </a:r>
            <a:br>
              <a:rPr lang="en-IN" sz="1400" dirty="0"/>
            </a:br>
            <a:r>
              <a:rPr lang="en-IN" sz="1400" dirty="0"/>
              <a:t> - educated professionals</a:t>
            </a:r>
          </a:p>
        </p:txBody>
      </p:sp>
      <p:pic>
        <p:nvPicPr>
          <p:cNvPr id="5" name="Content Placeholder 4">
            <a:extLst>
              <a:ext uri="{FF2B5EF4-FFF2-40B4-BE49-F238E27FC236}">
                <a16:creationId xmlns:a16="http://schemas.microsoft.com/office/drawing/2014/main" id="{0BF90102-7AE3-77BC-3F8C-085B12E699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3279228"/>
            <a:ext cx="11277600" cy="3578772"/>
          </a:xfrm>
          <a:prstGeom prst="rect">
            <a:avLst/>
          </a:prstGeom>
        </p:spPr>
      </p:pic>
    </p:spTree>
    <p:extLst>
      <p:ext uri="{BB962C8B-B14F-4D97-AF65-F5344CB8AC3E}">
        <p14:creationId xmlns:p14="http://schemas.microsoft.com/office/powerpoint/2010/main" val="80479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AD9E3-B6F3-235D-3D39-1B68850ABC64}"/>
              </a:ext>
            </a:extLst>
          </p:cNvPr>
          <p:cNvSpPr>
            <a:spLocks noGrp="1"/>
          </p:cNvSpPr>
          <p:nvPr>
            <p:ph type="ctrTitle"/>
          </p:nvPr>
        </p:nvSpPr>
        <p:spPr/>
        <p:txBody>
          <a:bodyPr/>
          <a:lstStyle/>
          <a:p>
            <a:r>
              <a:rPr lang="en-IN" dirty="0"/>
              <a:t>Transition to Target-Based Comparison</a:t>
            </a:r>
          </a:p>
        </p:txBody>
      </p:sp>
      <p:sp>
        <p:nvSpPr>
          <p:cNvPr id="3" name="Subtitle 2">
            <a:extLst>
              <a:ext uri="{FF2B5EF4-FFF2-40B4-BE49-F238E27FC236}">
                <a16:creationId xmlns:a16="http://schemas.microsoft.com/office/drawing/2014/main" id="{4EED31B6-FD39-F2AC-2D80-118D4B04ED02}"/>
              </a:ext>
            </a:extLst>
          </p:cNvPr>
          <p:cNvSpPr>
            <a:spLocks noGrp="1"/>
          </p:cNvSpPr>
          <p:nvPr>
            <p:ph type="subTitle" idx="1"/>
          </p:nvPr>
        </p:nvSpPr>
        <p:spPr/>
        <p:txBody>
          <a:bodyPr/>
          <a:lstStyle/>
          <a:p>
            <a:r>
              <a:rPr lang="en-US" dirty="0"/>
              <a:t>After </a:t>
            </a:r>
            <a:r>
              <a:rPr lang="en-IN" dirty="0"/>
              <a:t>Overview of Categorical Features</a:t>
            </a:r>
          </a:p>
        </p:txBody>
      </p:sp>
    </p:spTree>
    <p:extLst>
      <p:ext uri="{BB962C8B-B14F-4D97-AF65-F5344CB8AC3E}">
        <p14:creationId xmlns:p14="http://schemas.microsoft.com/office/powerpoint/2010/main" val="351565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0D990-A519-3EF6-CD11-C5C98F2B812D}"/>
              </a:ext>
            </a:extLst>
          </p:cNvPr>
          <p:cNvSpPr>
            <a:spLocks noGrp="1"/>
          </p:cNvSpPr>
          <p:nvPr>
            <p:ph type="title"/>
          </p:nvPr>
        </p:nvSpPr>
        <p:spPr>
          <a:xfrm>
            <a:off x="0" y="0"/>
            <a:ext cx="12192000" cy="3429000"/>
          </a:xfrm>
        </p:spPr>
        <p:txBody>
          <a:bodyPr>
            <a:normAutofit/>
          </a:bodyPr>
          <a:lstStyle/>
          <a:p>
            <a:r>
              <a:rPr lang="en-IN" sz="1800" dirty="0"/>
              <a:t>1. Relevant Experience vs Target                                                                  2. University </a:t>
            </a:r>
            <a:r>
              <a:rPr lang="en-IN" sz="1800" dirty="0" err="1"/>
              <a:t>Enrollment</a:t>
            </a:r>
            <a:r>
              <a:rPr lang="en-IN" sz="1800" dirty="0"/>
              <a:t> vs Target</a:t>
            </a:r>
            <a:br>
              <a:rPr lang="en-IN" sz="1800" dirty="0"/>
            </a:br>
            <a:br>
              <a:rPr lang="en-IN" sz="1800" dirty="0"/>
            </a:br>
            <a:r>
              <a:rPr lang="en-IN" sz="1800" dirty="0"/>
              <a:t>. </a:t>
            </a:r>
            <a:r>
              <a:rPr lang="en-IN" sz="1400" dirty="0"/>
              <a:t>Employees with </a:t>
            </a:r>
            <a:r>
              <a:rPr lang="en-IN" sz="1400" b="1" dirty="0"/>
              <a:t>relevant experience</a:t>
            </a:r>
            <a:r>
              <a:rPr lang="en-IN" sz="1400" dirty="0"/>
              <a:t> mostly fall under </a:t>
            </a:r>
            <a:r>
              <a:rPr lang="en-IN" sz="1400" b="1" dirty="0"/>
              <a:t>target = 0</a:t>
            </a:r>
            <a:r>
              <a:rPr lang="en-IN" sz="1400" dirty="0"/>
              <a:t> (not look-             . Majority of employees with </a:t>
            </a:r>
            <a:r>
              <a:rPr lang="en-IN" sz="1400" b="1" dirty="0"/>
              <a:t>no university </a:t>
            </a:r>
            <a:r>
              <a:rPr lang="en-IN" sz="1400" b="1" dirty="0" err="1"/>
              <a:t>enrollment</a:t>
            </a:r>
            <a:r>
              <a:rPr lang="en-IN" sz="1400" dirty="0"/>
              <a:t> belong to </a:t>
            </a:r>
            <a:r>
              <a:rPr lang="en-IN" sz="1400" b="1" dirty="0"/>
              <a:t>target = 0</a:t>
            </a:r>
            <a:r>
              <a:rPr lang="en-IN" sz="1400" dirty="0"/>
              <a:t>.</a:t>
            </a:r>
            <a:br>
              <a:rPr lang="en-IN" sz="1400" dirty="0"/>
            </a:br>
            <a:r>
              <a:rPr lang="en-IN" sz="1400" dirty="0"/>
              <a:t> - </a:t>
            </a:r>
            <a:r>
              <a:rPr lang="en-IN" sz="1400" dirty="0" err="1"/>
              <a:t>ing</a:t>
            </a:r>
            <a:r>
              <a:rPr lang="en-IN" sz="1400" dirty="0"/>
              <a:t> for job change).</a:t>
            </a:r>
            <a:br>
              <a:rPr lang="en-IN" sz="1400" dirty="0"/>
            </a:br>
            <a:br>
              <a:rPr lang="en-IN" sz="1400" dirty="0"/>
            </a:br>
            <a:r>
              <a:rPr lang="en-IN" sz="1400" dirty="0"/>
              <a:t>. A smaller portion with relevant experience belong to </a:t>
            </a:r>
            <a:r>
              <a:rPr lang="en-IN" sz="1400" b="1" dirty="0"/>
              <a:t>target = 1</a:t>
            </a:r>
            <a:r>
              <a:rPr lang="en-IN" sz="1400" dirty="0"/>
              <a:t> (likely to-                  . Employees enrolled in </a:t>
            </a:r>
            <a:r>
              <a:rPr lang="en-IN" sz="1400" b="1" dirty="0"/>
              <a:t>full‑time courses</a:t>
            </a:r>
            <a:r>
              <a:rPr lang="en-IN" sz="1400" dirty="0"/>
              <a:t> show a slightly higher tendency toward </a:t>
            </a:r>
            <a:br>
              <a:rPr lang="en-IN" sz="1400" dirty="0"/>
            </a:br>
            <a:r>
              <a:rPr lang="en-IN" sz="1400" dirty="0"/>
              <a:t> - change job).                                                                                                                                                 -</a:t>
            </a:r>
            <a:r>
              <a:rPr lang="en-IN" sz="1400" b="1" dirty="0"/>
              <a:t> target = 1</a:t>
            </a:r>
            <a:r>
              <a:rPr lang="en-IN" sz="1400" dirty="0"/>
              <a:t>.</a:t>
            </a:r>
            <a:br>
              <a:rPr lang="en-IN" sz="1400" dirty="0"/>
            </a:br>
            <a:br>
              <a:rPr lang="en-IN" sz="1400" dirty="0"/>
            </a:br>
            <a:r>
              <a:rPr lang="en-IN" sz="1400" dirty="0"/>
              <a:t>. Employees with </a:t>
            </a:r>
            <a:r>
              <a:rPr lang="en-IN" sz="1400" b="1" dirty="0"/>
              <a:t>no relevant experience</a:t>
            </a:r>
            <a:r>
              <a:rPr lang="en-IN" sz="1400" dirty="0"/>
              <a:t> show a higher proportion of job‑                 .</a:t>
            </a:r>
            <a:r>
              <a:rPr lang="en-IN" sz="1400" b="1" dirty="0"/>
              <a:t> Part‑time course</a:t>
            </a:r>
            <a:r>
              <a:rPr lang="en-IN" sz="1400" dirty="0"/>
              <a:t> </a:t>
            </a:r>
            <a:r>
              <a:rPr lang="en-IN" sz="1400" dirty="0" err="1"/>
              <a:t>enrollment</a:t>
            </a:r>
            <a:r>
              <a:rPr lang="en-IN" sz="1400" dirty="0"/>
              <a:t> also shows mixed distribution but mostly target = 0</a:t>
            </a:r>
            <a:br>
              <a:rPr lang="en-IN" sz="1400" dirty="0"/>
            </a:br>
            <a:r>
              <a:rPr lang="en-IN" sz="1400" dirty="0"/>
              <a:t> - change intention compared to those with experience.</a:t>
            </a:r>
            <a:br>
              <a:rPr lang="en-IN" sz="1400" dirty="0"/>
            </a:br>
            <a:br>
              <a:rPr lang="en-IN" sz="1400" dirty="0"/>
            </a:br>
            <a:r>
              <a:rPr lang="en-IN" sz="1400" dirty="0"/>
              <a:t>. This indicates that </a:t>
            </a:r>
            <a:r>
              <a:rPr lang="en-IN" sz="1400" b="1" dirty="0"/>
              <a:t>lack of relevant experience increases the probability                    .</a:t>
            </a:r>
            <a:r>
              <a:rPr lang="en-IN" sz="1400" dirty="0"/>
              <a:t> This suggests that employees pursuing education (full‑time or part‑time) may</a:t>
            </a:r>
            <a:br>
              <a:rPr lang="en-IN" sz="1400" dirty="0"/>
            </a:br>
            <a:r>
              <a:rPr lang="en-IN" sz="1400" dirty="0"/>
              <a:t> </a:t>
            </a:r>
            <a:r>
              <a:rPr lang="en-IN" sz="1400" b="1" dirty="0"/>
              <a:t>of job change</a:t>
            </a:r>
            <a:r>
              <a:rPr lang="en-IN" sz="1400" dirty="0"/>
              <a:t>.                                                                                                                                                 - be </a:t>
            </a:r>
            <a:r>
              <a:rPr lang="en-IN" sz="1400" b="1" dirty="0"/>
              <a:t>more open to job change</a:t>
            </a:r>
            <a:r>
              <a:rPr lang="en-IN" sz="1400" dirty="0"/>
              <a:t>.</a:t>
            </a:r>
          </a:p>
        </p:txBody>
      </p:sp>
      <p:pic>
        <p:nvPicPr>
          <p:cNvPr id="5" name="Content Placeholder 4">
            <a:extLst>
              <a:ext uri="{FF2B5EF4-FFF2-40B4-BE49-F238E27FC236}">
                <a16:creationId xmlns:a16="http://schemas.microsoft.com/office/drawing/2014/main" id="{78B92D2D-CE81-89EB-8C7F-3774146B5F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3429000"/>
            <a:ext cx="11144250" cy="3429000"/>
          </a:xfrm>
          <a:prstGeom prst="rect">
            <a:avLst/>
          </a:prstGeom>
        </p:spPr>
      </p:pic>
    </p:spTree>
    <p:extLst>
      <p:ext uri="{BB962C8B-B14F-4D97-AF65-F5344CB8AC3E}">
        <p14:creationId xmlns:p14="http://schemas.microsoft.com/office/powerpoint/2010/main" val="3976913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21881-C485-820F-FD37-3A5BDD893118}"/>
              </a:ext>
            </a:extLst>
          </p:cNvPr>
          <p:cNvSpPr>
            <a:spLocks noGrp="1"/>
          </p:cNvSpPr>
          <p:nvPr>
            <p:ph type="title"/>
          </p:nvPr>
        </p:nvSpPr>
        <p:spPr>
          <a:xfrm>
            <a:off x="0" y="0"/>
            <a:ext cx="12192000" cy="2752725"/>
          </a:xfrm>
        </p:spPr>
        <p:txBody>
          <a:bodyPr>
            <a:normAutofit/>
          </a:bodyPr>
          <a:lstStyle/>
          <a:p>
            <a:r>
              <a:rPr lang="en-US" sz="1800" dirty="0"/>
              <a:t>3.</a:t>
            </a:r>
            <a:r>
              <a:rPr lang="en-IN" sz="1800" dirty="0"/>
              <a:t> Education Level vs Target                                                                           4. Company Type vs Target</a:t>
            </a:r>
            <a:br>
              <a:rPr lang="en-IN" sz="1800" dirty="0"/>
            </a:br>
            <a:br>
              <a:rPr lang="en-IN" sz="1800" dirty="0"/>
            </a:br>
            <a:r>
              <a:rPr lang="en-IN" sz="1800" dirty="0"/>
              <a:t>. </a:t>
            </a:r>
            <a:r>
              <a:rPr lang="en-IN" sz="1400" dirty="0"/>
              <a:t>Most employees are </a:t>
            </a:r>
            <a:r>
              <a:rPr lang="en-IN" sz="1400" b="1" dirty="0"/>
              <a:t>Graduates</a:t>
            </a:r>
            <a:r>
              <a:rPr lang="en-IN" sz="1400" dirty="0"/>
              <a:t>, followed by </a:t>
            </a:r>
            <a:r>
              <a:rPr lang="en-IN" sz="1400" b="1" dirty="0"/>
              <a:t>Masters</a:t>
            </a:r>
            <a:r>
              <a:rPr lang="en-IN" sz="1400" dirty="0"/>
              <a:t>.                                                            . Majority of employees work in </a:t>
            </a:r>
            <a:r>
              <a:rPr lang="en-IN" sz="1400" b="1" dirty="0"/>
              <a:t>Pvt Ltd</a:t>
            </a:r>
            <a:r>
              <a:rPr lang="en-IN" sz="1400" dirty="0"/>
              <a:t> companies.</a:t>
            </a:r>
            <a:br>
              <a:rPr lang="en-IN" sz="1400" dirty="0"/>
            </a:br>
            <a:br>
              <a:rPr lang="en-IN" sz="1400" dirty="0"/>
            </a:br>
            <a:r>
              <a:rPr lang="en-IN" sz="1400" dirty="0"/>
              <a:t>. Across all education levels, </a:t>
            </a:r>
            <a:r>
              <a:rPr lang="en-IN" sz="1400" b="1" dirty="0"/>
              <a:t>target = 0</a:t>
            </a:r>
            <a:r>
              <a:rPr lang="en-IN" sz="1400" dirty="0"/>
              <a:t> (not looking for job change) is sig-                    . Other company types like </a:t>
            </a:r>
            <a:r>
              <a:rPr lang="en-IN" sz="1400" b="1" dirty="0"/>
              <a:t>Funded Startup</a:t>
            </a:r>
            <a:r>
              <a:rPr lang="en-IN" sz="1400" dirty="0"/>
              <a:t>, </a:t>
            </a:r>
            <a:r>
              <a:rPr lang="en-IN" sz="1400" b="1" dirty="0"/>
              <a:t>Early Stage Startup</a:t>
            </a:r>
            <a:r>
              <a:rPr lang="en-IN" sz="1400" dirty="0"/>
              <a:t>, </a:t>
            </a:r>
            <a:r>
              <a:rPr lang="en-IN" sz="1400" b="1" dirty="0"/>
              <a:t>Public Sector</a:t>
            </a:r>
            <a:r>
              <a:rPr lang="en-IN" sz="1400" dirty="0"/>
              <a:t>, </a:t>
            </a:r>
            <a:br>
              <a:rPr lang="en-IN" sz="1400" b="1" dirty="0"/>
            </a:br>
            <a:r>
              <a:rPr lang="en-IN" sz="1400" b="1" dirty="0"/>
              <a:t> -</a:t>
            </a:r>
            <a:r>
              <a:rPr lang="en-IN" sz="1400" dirty="0"/>
              <a:t> </a:t>
            </a:r>
            <a:r>
              <a:rPr lang="en-IN" sz="1400" dirty="0" err="1"/>
              <a:t>nificantly</a:t>
            </a:r>
            <a:r>
              <a:rPr lang="en-IN" sz="1400" dirty="0"/>
              <a:t> higher than </a:t>
            </a:r>
            <a:r>
              <a:rPr lang="en-IN" sz="1400" b="1" dirty="0"/>
              <a:t>target = 1</a:t>
            </a:r>
            <a:r>
              <a:rPr lang="en-IN" sz="1400" dirty="0"/>
              <a:t>.                                                                                                         -</a:t>
            </a:r>
            <a:r>
              <a:rPr lang="en-IN" sz="1400" b="1" dirty="0"/>
              <a:t> NGO</a:t>
            </a:r>
            <a:r>
              <a:rPr lang="en-IN" sz="1400" dirty="0"/>
              <a:t>, and </a:t>
            </a:r>
            <a:r>
              <a:rPr lang="en-IN" sz="1400" b="1" dirty="0"/>
              <a:t>Other</a:t>
            </a:r>
            <a:r>
              <a:rPr lang="en-IN" sz="1400" dirty="0"/>
              <a:t> have much smaller counts.</a:t>
            </a:r>
            <a:br>
              <a:rPr lang="en-IN" sz="1400" dirty="0"/>
            </a:br>
            <a:br>
              <a:rPr lang="en-IN" sz="1400" dirty="0"/>
            </a:br>
            <a:r>
              <a:rPr lang="en-IN" sz="1400" dirty="0"/>
              <a:t>. Higher education levels (Masters, PhD) still show lower job‑change int-                     . In every company type, </a:t>
            </a:r>
            <a:r>
              <a:rPr lang="en-IN" sz="1400" b="1" dirty="0"/>
              <a:t>target = 0</a:t>
            </a:r>
            <a:r>
              <a:rPr lang="en-IN" sz="1400" dirty="0"/>
              <a:t> is higher than </a:t>
            </a:r>
            <a:r>
              <a:rPr lang="en-IN" sz="1400" b="1" dirty="0"/>
              <a:t>target = 1</a:t>
            </a:r>
            <a:r>
              <a:rPr lang="en-IN" sz="1400" dirty="0"/>
              <a:t>, showing low </a:t>
            </a:r>
            <a:r>
              <a:rPr lang="en-IN" sz="1400" dirty="0" err="1"/>
              <a:t>jod</a:t>
            </a:r>
            <a:r>
              <a:rPr lang="en-IN" sz="1400" dirty="0"/>
              <a:t>-</a:t>
            </a:r>
            <a:br>
              <a:rPr lang="en-IN" sz="1400" dirty="0"/>
            </a:br>
            <a:r>
              <a:rPr lang="en-IN" sz="1400" dirty="0"/>
              <a:t> -</a:t>
            </a:r>
            <a:r>
              <a:rPr lang="en-IN" sz="1400" dirty="0" err="1"/>
              <a:t>ention</a:t>
            </a:r>
            <a:r>
              <a:rPr lang="en-IN" sz="1400" dirty="0"/>
              <a:t>                                                                                                                                                              - change intention overall.</a:t>
            </a:r>
            <a:br>
              <a:rPr lang="en-IN" sz="1400" dirty="0"/>
            </a:br>
            <a:br>
              <a:rPr lang="en-IN" sz="1400" dirty="0"/>
            </a:br>
            <a:r>
              <a:rPr lang="en-IN" sz="1400" dirty="0"/>
              <a:t>. Indicates that </a:t>
            </a:r>
            <a:r>
              <a:rPr lang="en-IN" sz="1400" b="1" dirty="0"/>
              <a:t>education level does not strongly drive job‑change </a:t>
            </a:r>
            <a:r>
              <a:rPr lang="en-IN" sz="1400" b="1" dirty="0" err="1"/>
              <a:t>beh</a:t>
            </a:r>
            <a:r>
              <a:rPr lang="en-IN" sz="1400" b="1" dirty="0"/>
              <a:t>-                        . </a:t>
            </a:r>
            <a:r>
              <a:rPr lang="en-IN" sz="1400" dirty="0"/>
              <a:t>Slightly higher job‑change tendency appears in </a:t>
            </a:r>
            <a:r>
              <a:rPr lang="en-IN" sz="1400" b="1" dirty="0"/>
              <a:t>startups</a:t>
            </a:r>
            <a:r>
              <a:rPr lang="en-IN" sz="1400" dirty="0"/>
              <a:t>, but still lower than ta-</a:t>
            </a:r>
            <a:br>
              <a:rPr lang="en-IN" sz="1400" b="1" dirty="0"/>
            </a:br>
            <a:r>
              <a:rPr lang="en-IN" sz="1400" b="1" dirty="0"/>
              <a:t> -</a:t>
            </a:r>
            <a:r>
              <a:rPr lang="en-IN" sz="1400" b="1" dirty="0" err="1"/>
              <a:t>avior</a:t>
            </a:r>
            <a:r>
              <a:rPr lang="en-IN" sz="1400" dirty="0"/>
              <a:t> — most groups remain stable.                                                                                                  -</a:t>
            </a:r>
            <a:r>
              <a:rPr lang="en-IN" sz="1400" dirty="0" err="1"/>
              <a:t>rget</a:t>
            </a:r>
            <a:r>
              <a:rPr lang="en-IN" sz="1400" dirty="0"/>
              <a:t> 0.</a:t>
            </a:r>
            <a:br>
              <a:rPr lang="en-IN" sz="1400" dirty="0"/>
            </a:br>
            <a:br>
              <a:rPr lang="en-IN" sz="1400" dirty="0"/>
            </a:br>
            <a:endParaRPr lang="en-IN" sz="1400" dirty="0"/>
          </a:p>
        </p:txBody>
      </p:sp>
      <p:pic>
        <p:nvPicPr>
          <p:cNvPr id="5" name="Content Placeholder 4">
            <a:extLst>
              <a:ext uri="{FF2B5EF4-FFF2-40B4-BE49-F238E27FC236}">
                <a16:creationId xmlns:a16="http://schemas.microsoft.com/office/drawing/2014/main" id="{474E6091-16A9-48CB-B8BA-7A897B390A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650" y="2371725"/>
            <a:ext cx="11277600" cy="4486275"/>
          </a:xfrm>
          <a:prstGeom prst="rect">
            <a:avLst/>
          </a:prstGeom>
        </p:spPr>
      </p:pic>
    </p:spTree>
    <p:extLst>
      <p:ext uri="{BB962C8B-B14F-4D97-AF65-F5344CB8AC3E}">
        <p14:creationId xmlns:p14="http://schemas.microsoft.com/office/powerpoint/2010/main" val="2781825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28D1A-178B-E400-97B3-25F77A190910}"/>
              </a:ext>
            </a:extLst>
          </p:cNvPr>
          <p:cNvSpPr>
            <a:spLocks noGrp="1"/>
          </p:cNvSpPr>
          <p:nvPr>
            <p:ph type="ctrTitle"/>
          </p:nvPr>
        </p:nvSpPr>
        <p:spPr/>
        <p:txBody>
          <a:bodyPr/>
          <a:lstStyle/>
          <a:p>
            <a:r>
              <a:rPr lang="en-IN" dirty="0"/>
              <a:t>Numerical features distribution</a:t>
            </a:r>
          </a:p>
        </p:txBody>
      </p:sp>
      <p:sp>
        <p:nvSpPr>
          <p:cNvPr id="3" name="Subtitle 2">
            <a:extLst>
              <a:ext uri="{FF2B5EF4-FFF2-40B4-BE49-F238E27FC236}">
                <a16:creationId xmlns:a16="http://schemas.microsoft.com/office/drawing/2014/main" id="{6193BB0E-FCF6-C101-1287-2631089A361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168070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F9F77-F0AA-478B-7BA7-7B4F9221521E}"/>
              </a:ext>
            </a:extLst>
          </p:cNvPr>
          <p:cNvSpPr>
            <a:spLocks noGrp="1"/>
          </p:cNvSpPr>
          <p:nvPr>
            <p:ph type="title"/>
          </p:nvPr>
        </p:nvSpPr>
        <p:spPr>
          <a:xfrm>
            <a:off x="0" y="0"/>
            <a:ext cx="12192000" cy="3671478"/>
          </a:xfrm>
        </p:spPr>
        <p:txBody>
          <a:bodyPr>
            <a:normAutofit/>
          </a:bodyPr>
          <a:lstStyle/>
          <a:p>
            <a:r>
              <a:rPr lang="en-IN" sz="3200" dirty="0"/>
              <a:t>Numerical features distribution</a:t>
            </a:r>
            <a:br>
              <a:rPr lang="en-IN" sz="3200" dirty="0"/>
            </a:br>
            <a:br>
              <a:rPr lang="en-IN" sz="3200" dirty="0"/>
            </a:br>
            <a:r>
              <a:rPr lang="en-IN" sz="2000" dirty="0"/>
              <a:t>1. City Development Index                                                                  2.</a:t>
            </a:r>
            <a:r>
              <a:rPr lang="en-IN" sz="2000" b="1" dirty="0"/>
              <a:t> Training Hours</a:t>
            </a:r>
            <a:br>
              <a:rPr lang="en-IN" sz="2000" dirty="0"/>
            </a:br>
            <a:r>
              <a:rPr lang="en-IN" sz="2000" dirty="0"/>
              <a:t>. </a:t>
            </a:r>
            <a:r>
              <a:rPr lang="en-IN" sz="1400" dirty="0"/>
              <a:t>The histogram shows the spread of city development index values rang-                   . The distribution of training hours is </a:t>
            </a:r>
            <a:r>
              <a:rPr lang="en-IN" sz="1400" b="1" dirty="0"/>
              <a:t>right‑skewed</a:t>
            </a:r>
            <a:r>
              <a:rPr lang="en-IN" sz="1400" dirty="0"/>
              <a:t>.</a:t>
            </a:r>
            <a:br>
              <a:rPr lang="en-IN" sz="1400" dirty="0"/>
            </a:br>
            <a:r>
              <a:rPr lang="en-IN" sz="1400" dirty="0"/>
              <a:t>-</a:t>
            </a:r>
            <a:r>
              <a:rPr lang="en-IN" sz="1400" dirty="0" err="1"/>
              <a:t>ing</a:t>
            </a:r>
            <a:r>
              <a:rPr lang="en-IN" sz="1400" dirty="0"/>
              <a:t> roughly from </a:t>
            </a:r>
            <a:r>
              <a:rPr lang="en-IN" sz="1400" b="1" dirty="0"/>
              <a:t>0.45 to 0.95</a:t>
            </a:r>
            <a:r>
              <a:rPr lang="en-IN" sz="1400" dirty="0"/>
              <a:t>.</a:t>
            </a:r>
            <a:br>
              <a:rPr lang="en-IN" sz="1400" dirty="0"/>
            </a:br>
            <a:br>
              <a:rPr lang="en-IN" sz="1400" dirty="0"/>
            </a:br>
            <a:r>
              <a:rPr lang="en-IN" sz="1400" dirty="0"/>
              <a:t>. Two major peaks are visible — one around </a:t>
            </a:r>
            <a:r>
              <a:rPr lang="en-IN" sz="1400" b="1" dirty="0"/>
              <a:t>0.6</a:t>
            </a:r>
            <a:r>
              <a:rPr lang="en-IN" sz="1400" dirty="0"/>
              <a:t> and another near </a:t>
            </a:r>
            <a:r>
              <a:rPr lang="en-IN" sz="1400" b="1" dirty="0"/>
              <a:t>0.9</a:t>
            </a:r>
            <a:r>
              <a:rPr lang="en-IN" sz="1400" dirty="0"/>
              <a:t>.                           . Most employees have completed </a:t>
            </a:r>
            <a:r>
              <a:rPr lang="en-IN" sz="1400" b="1" dirty="0"/>
              <a:t>less than 100 hours</a:t>
            </a:r>
            <a:r>
              <a:rPr lang="en-IN" sz="1400" dirty="0"/>
              <a:t> of training.</a:t>
            </a:r>
            <a:br>
              <a:rPr lang="en-IN" sz="1400" dirty="0"/>
            </a:br>
            <a:br>
              <a:rPr lang="en-IN" sz="1400" dirty="0"/>
            </a:br>
            <a:r>
              <a:rPr lang="en-IN" sz="1400" dirty="0"/>
              <a:t>. This indicates that employees mostly come from </a:t>
            </a:r>
            <a:r>
              <a:rPr lang="en-IN" sz="1400" b="1" dirty="0"/>
              <a:t>moderately developed</a:t>
            </a:r>
            <a:r>
              <a:rPr lang="en-IN" sz="1400" dirty="0"/>
              <a:t>                    . Very few employees have training hours above </a:t>
            </a:r>
            <a:r>
              <a:rPr lang="en-IN" sz="1400" b="1" dirty="0"/>
              <a:t>200–300</a:t>
            </a:r>
            <a:r>
              <a:rPr lang="en-IN" sz="1400" dirty="0"/>
              <a:t>.</a:t>
            </a:r>
            <a:br>
              <a:rPr lang="en-IN" sz="1400" dirty="0"/>
            </a:br>
            <a:r>
              <a:rPr lang="en-IN" sz="1400" dirty="0"/>
              <a:t> and </a:t>
            </a:r>
            <a:r>
              <a:rPr lang="en-IN" sz="1400" b="1" dirty="0"/>
              <a:t>highly developed</a:t>
            </a:r>
            <a:r>
              <a:rPr lang="en-IN" sz="1400" dirty="0"/>
              <a:t> cities.</a:t>
            </a:r>
            <a:br>
              <a:rPr lang="en-IN" sz="1400" dirty="0"/>
            </a:br>
            <a:br>
              <a:rPr lang="en-IN" sz="1400" dirty="0"/>
            </a:br>
            <a:r>
              <a:rPr lang="en-IN" sz="1400" dirty="0"/>
              <a:t>. The distribution is not uniform, showing clear clustering in specific dev-                   . This suggests that training participation is generally low, with only a small gr-</a:t>
            </a:r>
            <a:br>
              <a:rPr lang="en-IN" sz="1400" dirty="0"/>
            </a:br>
            <a:r>
              <a:rPr lang="en-IN" sz="1400" dirty="0"/>
              <a:t> </a:t>
            </a:r>
            <a:r>
              <a:rPr lang="en-IN" sz="1400" dirty="0" err="1"/>
              <a:t>elopment</a:t>
            </a:r>
            <a:r>
              <a:rPr lang="en-IN" sz="1400" dirty="0"/>
              <a:t> ranges.                                                                                                                                         -</a:t>
            </a:r>
            <a:r>
              <a:rPr lang="en-IN" sz="1400" dirty="0" err="1"/>
              <a:t>oup</a:t>
            </a:r>
            <a:r>
              <a:rPr lang="en-IN" sz="1400" dirty="0"/>
              <a:t> investing heavily in training.</a:t>
            </a:r>
          </a:p>
        </p:txBody>
      </p:sp>
      <p:pic>
        <p:nvPicPr>
          <p:cNvPr id="5" name="Content Placeholder 4">
            <a:extLst>
              <a:ext uri="{FF2B5EF4-FFF2-40B4-BE49-F238E27FC236}">
                <a16:creationId xmlns:a16="http://schemas.microsoft.com/office/drawing/2014/main" id="{8BFBCE87-D0A8-8AD9-C071-DCA116A9F1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3186522"/>
            <a:ext cx="11277600" cy="3671478"/>
          </a:xfrm>
          <a:prstGeom prst="rect">
            <a:avLst/>
          </a:prstGeom>
        </p:spPr>
      </p:pic>
    </p:spTree>
    <p:extLst>
      <p:ext uri="{BB962C8B-B14F-4D97-AF65-F5344CB8AC3E}">
        <p14:creationId xmlns:p14="http://schemas.microsoft.com/office/powerpoint/2010/main" val="3255923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F18B-7661-CBCB-25AC-AE4B58D18A11}"/>
              </a:ext>
            </a:extLst>
          </p:cNvPr>
          <p:cNvSpPr>
            <a:spLocks noGrp="1"/>
          </p:cNvSpPr>
          <p:nvPr>
            <p:ph type="title"/>
          </p:nvPr>
        </p:nvSpPr>
        <p:spPr>
          <a:xfrm>
            <a:off x="0" y="0"/>
            <a:ext cx="12192000" cy="3333750"/>
          </a:xfrm>
        </p:spPr>
        <p:txBody>
          <a:bodyPr>
            <a:normAutofit fontScale="90000"/>
          </a:bodyPr>
          <a:lstStyle/>
          <a:p>
            <a:r>
              <a:rPr lang="en-IN" sz="3200" dirty="0"/>
              <a:t>Comparison of Numerical Features with Target Variable</a:t>
            </a:r>
            <a:br>
              <a:rPr lang="en-US" sz="3200" dirty="0"/>
            </a:br>
            <a:br>
              <a:rPr lang="en-US" sz="3200" dirty="0"/>
            </a:br>
            <a:r>
              <a:rPr lang="en-US" sz="2000" dirty="0"/>
              <a:t>1.</a:t>
            </a:r>
            <a:r>
              <a:rPr lang="en-IN" sz="2000" b="1" dirty="0"/>
              <a:t> City Development Index vs Target                                             2.</a:t>
            </a:r>
            <a:r>
              <a:rPr lang="en-IN" sz="2000" dirty="0"/>
              <a:t> Training Hours vs Target</a:t>
            </a:r>
            <a:br>
              <a:rPr lang="en-IN" sz="2000" dirty="0"/>
            </a:br>
            <a:br>
              <a:rPr lang="en-IN" sz="2000" dirty="0"/>
            </a:br>
            <a:r>
              <a:rPr lang="en-IN" sz="1400" dirty="0"/>
              <a:t>.</a:t>
            </a:r>
            <a:r>
              <a:rPr lang="en-IN" sz="2000" dirty="0"/>
              <a:t> </a:t>
            </a:r>
            <a:r>
              <a:rPr lang="en-IN" sz="1400" dirty="0"/>
              <a:t>The box plot compares city development index values for employees who               . Training hours for both target groups show a similar median around </a:t>
            </a:r>
            <a:r>
              <a:rPr lang="en-IN" sz="1400" b="1" dirty="0"/>
              <a:t>50 hours</a:t>
            </a:r>
            <a:r>
              <a:rPr lang="en-IN" sz="1400" dirty="0"/>
              <a:t>.</a:t>
            </a:r>
            <a:br>
              <a:rPr lang="en-IN" sz="1400" dirty="0"/>
            </a:br>
            <a:r>
              <a:rPr lang="en-IN" sz="1400" dirty="0"/>
              <a:t> are </a:t>
            </a:r>
            <a:r>
              <a:rPr lang="en-IN" sz="1400" b="1" dirty="0"/>
              <a:t>not looking for a job change (target = 0)</a:t>
            </a:r>
            <a:r>
              <a:rPr lang="en-IN" sz="1400" dirty="0"/>
              <a:t> and those who </a:t>
            </a:r>
            <a:r>
              <a:rPr lang="en-IN" sz="1400" b="1" dirty="0"/>
              <a:t>are looking for</a:t>
            </a:r>
            <a:br>
              <a:rPr lang="en-IN" sz="1400" b="1" dirty="0"/>
            </a:br>
            <a:r>
              <a:rPr lang="en-IN" sz="1400" b="1" dirty="0"/>
              <a:t> a job change (target = 1)</a:t>
            </a:r>
            <a:r>
              <a:rPr lang="en-IN" sz="1400" dirty="0"/>
              <a:t>.</a:t>
            </a:r>
            <a:br>
              <a:rPr lang="en-IN" sz="1400" dirty="0"/>
            </a:br>
            <a:br>
              <a:rPr lang="en-IN" sz="1400" dirty="0"/>
            </a:br>
            <a:r>
              <a:rPr lang="en-IN" sz="1400" dirty="0"/>
              <a:t>. Both groups have values mostly between </a:t>
            </a:r>
            <a:r>
              <a:rPr lang="en-IN" sz="1400" b="1" dirty="0"/>
              <a:t>0.5 and 0.95</a:t>
            </a:r>
            <a:r>
              <a:rPr lang="en-IN" sz="1400" dirty="0"/>
              <a:t>, but </a:t>
            </a:r>
            <a:r>
              <a:rPr lang="en-IN" sz="1400" b="1" dirty="0"/>
              <a:t>target = 0</a:t>
            </a:r>
            <a:r>
              <a:rPr lang="en-IN" sz="1400" dirty="0"/>
              <a:t> shows              . The distribution is wide, ranging from </a:t>
            </a:r>
            <a:r>
              <a:rPr lang="en-IN" sz="1400" b="1" dirty="0"/>
              <a:t>0 to 350 hours</a:t>
            </a:r>
            <a:r>
              <a:rPr lang="en-IN" sz="1400" dirty="0"/>
              <a:t>, with many outliers above </a:t>
            </a:r>
            <a:br>
              <a:rPr lang="en-IN" sz="1400" dirty="0"/>
            </a:br>
            <a:r>
              <a:rPr lang="en-IN" sz="1400" dirty="0"/>
              <a:t> a slightly higher median.                                                                                                                          200</a:t>
            </a:r>
            <a:br>
              <a:rPr lang="en-IN" sz="1400" dirty="0"/>
            </a:br>
            <a:br>
              <a:rPr lang="en-IN" sz="1400" dirty="0"/>
            </a:br>
            <a:r>
              <a:rPr lang="en-IN" sz="1400" dirty="0"/>
              <a:t>. There are several lower outliers for target = 0, indicating some employees                . Both groups have similar patterns, suggesting that </a:t>
            </a:r>
            <a:r>
              <a:rPr lang="en-IN" sz="1400" b="1" dirty="0"/>
              <a:t>training hours do not</a:t>
            </a:r>
            <a:br>
              <a:rPr lang="en-IN" sz="1400" dirty="0"/>
            </a:br>
            <a:r>
              <a:rPr lang="en-IN" sz="1400" dirty="0"/>
              <a:t> from less developed cities.                                                                                                                      </a:t>
            </a:r>
            <a:r>
              <a:rPr lang="en-IN" sz="1400" b="1" dirty="0"/>
              <a:t>strongly differentiate job‑change </a:t>
            </a:r>
            <a:r>
              <a:rPr lang="en-IN" sz="1400" b="1" dirty="0" err="1"/>
              <a:t>behavior</a:t>
            </a:r>
            <a:r>
              <a:rPr lang="en-IN" sz="1400" dirty="0"/>
              <a:t>.</a:t>
            </a:r>
            <a:br>
              <a:rPr lang="en-IN" sz="1400" dirty="0"/>
            </a:br>
            <a:br>
              <a:rPr lang="en-IN" sz="1400" dirty="0"/>
            </a:br>
            <a:r>
              <a:rPr lang="en-IN" sz="1400" dirty="0"/>
              <a:t>. Overall, employees from </a:t>
            </a:r>
            <a:r>
              <a:rPr lang="en-IN" sz="1400" b="1" dirty="0"/>
              <a:t>more developed cities tend to be more stable</a:t>
            </a:r>
            <a:r>
              <a:rPr lang="en-IN" sz="1400" dirty="0"/>
              <a:t>, but              . High training hours appear in both categories, indicating mixed motivation levels.</a:t>
            </a:r>
            <a:br>
              <a:rPr lang="en-IN" sz="1400" dirty="0"/>
            </a:br>
            <a:r>
              <a:rPr lang="en-IN" sz="1400" dirty="0"/>
              <a:t>  the difference is not very large.</a:t>
            </a:r>
          </a:p>
        </p:txBody>
      </p:sp>
      <p:pic>
        <p:nvPicPr>
          <p:cNvPr id="5" name="Content Placeholder 4">
            <a:extLst>
              <a:ext uri="{FF2B5EF4-FFF2-40B4-BE49-F238E27FC236}">
                <a16:creationId xmlns:a16="http://schemas.microsoft.com/office/drawing/2014/main" id="{65506187-7C81-8ED8-2653-CE1BB29D44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2480" y="3429000"/>
            <a:ext cx="9467039" cy="3429000"/>
          </a:xfrm>
          <a:prstGeom prst="rect">
            <a:avLst/>
          </a:prstGeom>
        </p:spPr>
      </p:pic>
    </p:spTree>
    <p:extLst>
      <p:ext uri="{BB962C8B-B14F-4D97-AF65-F5344CB8AC3E}">
        <p14:creationId xmlns:p14="http://schemas.microsoft.com/office/powerpoint/2010/main" val="3043007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9E635-BC04-127C-64DF-86553D6484DB}"/>
              </a:ext>
            </a:extLst>
          </p:cNvPr>
          <p:cNvSpPr>
            <a:spLocks noGrp="1"/>
          </p:cNvSpPr>
          <p:nvPr>
            <p:ph type="title"/>
          </p:nvPr>
        </p:nvSpPr>
        <p:spPr>
          <a:xfrm>
            <a:off x="457200" y="179068"/>
            <a:ext cx="11277599" cy="601981"/>
          </a:xfrm>
        </p:spPr>
        <p:txBody>
          <a:bodyPr>
            <a:normAutofit/>
          </a:bodyPr>
          <a:lstStyle/>
          <a:p>
            <a:r>
              <a:rPr lang="en-IN" dirty="0"/>
              <a:t>Preprocessing setup</a:t>
            </a:r>
          </a:p>
        </p:txBody>
      </p:sp>
      <p:sp>
        <p:nvSpPr>
          <p:cNvPr id="3" name="Content Placeholder 2">
            <a:extLst>
              <a:ext uri="{FF2B5EF4-FFF2-40B4-BE49-F238E27FC236}">
                <a16:creationId xmlns:a16="http://schemas.microsoft.com/office/drawing/2014/main" id="{E34D60C4-1241-47F0-E6DF-9E391B8B7150}"/>
              </a:ext>
            </a:extLst>
          </p:cNvPr>
          <p:cNvSpPr>
            <a:spLocks noGrp="1"/>
          </p:cNvSpPr>
          <p:nvPr>
            <p:ph idx="1"/>
          </p:nvPr>
        </p:nvSpPr>
        <p:spPr>
          <a:xfrm>
            <a:off x="457200" y="1043936"/>
            <a:ext cx="11277599" cy="5356863"/>
          </a:xfrm>
        </p:spPr>
        <p:txBody>
          <a:bodyPr/>
          <a:lstStyle/>
          <a:p>
            <a:r>
              <a:rPr lang="en-IN" b="1" dirty="0"/>
              <a:t>1. Feature &amp; Target Separation</a:t>
            </a:r>
          </a:p>
          <a:p>
            <a:pPr lvl="0"/>
            <a:r>
              <a:rPr lang="en-IN" dirty="0"/>
              <a:t>The dataset contains an ID column (</a:t>
            </a:r>
            <a:r>
              <a:rPr lang="en-IN" dirty="0" err="1"/>
              <a:t>enrollee_id</a:t>
            </a:r>
            <a:r>
              <a:rPr lang="en-IN" dirty="0"/>
              <a:t>) and the target column (target).</a:t>
            </a:r>
          </a:p>
          <a:p>
            <a:pPr lvl="0"/>
            <a:r>
              <a:rPr lang="en-IN" dirty="0"/>
              <a:t>These columns are removed from the feature matrix </a:t>
            </a:r>
            <a:r>
              <a:rPr lang="en-IN" b="1" dirty="0"/>
              <a:t>X</a:t>
            </a:r>
            <a:r>
              <a:rPr lang="en-IN" dirty="0"/>
              <a:t>, while target is stored separately in </a:t>
            </a:r>
            <a:r>
              <a:rPr lang="en-IN" b="1" dirty="0"/>
              <a:t>y</a:t>
            </a:r>
            <a:r>
              <a:rPr lang="en-IN" dirty="0"/>
              <a:t>.</a:t>
            </a:r>
          </a:p>
          <a:p>
            <a:r>
              <a:rPr lang="en-IN" b="1" dirty="0"/>
              <a:t>2. Identifying Feature Types</a:t>
            </a:r>
          </a:p>
          <a:p>
            <a:pPr lvl="0"/>
            <a:r>
              <a:rPr lang="en-IN" dirty="0"/>
              <a:t>Numerical features are explicitly defined: </a:t>
            </a:r>
            <a:r>
              <a:rPr lang="en-IN" b="1" dirty="0" err="1"/>
              <a:t>city_development_index</a:t>
            </a:r>
            <a:r>
              <a:rPr lang="en-IN" dirty="0"/>
              <a:t>, </a:t>
            </a:r>
            <a:r>
              <a:rPr lang="en-IN" b="1" dirty="0" err="1"/>
              <a:t>training_hours</a:t>
            </a:r>
            <a:endParaRPr lang="en-IN" dirty="0"/>
          </a:p>
          <a:p>
            <a:pPr lvl="0"/>
            <a:r>
              <a:rPr lang="en-IN" dirty="0"/>
              <a:t>All remaining columns are treated as </a:t>
            </a:r>
            <a:r>
              <a:rPr lang="en-IN" b="1" dirty="0"/>
              <a:t>categorical features</a:t>
            </a:r>
            <a:r>
              <a:rPr lang="en-IN" dirty="0"/>
              <a:t>.</a:t>
            </a:r>
          </a:p>
          <a:p>
            <a:r>
              <a:rPr lang="en-IN" b="1" dirty="0"/>
              <a:t>3. Purpose of This Step</a:t>
            </a:r>
          </a:p>
          <a:p>
            <a:pPr lvl="0"/>
            <a:r>
              <a:rPr lang="en-IN" dirty="0"/>
              <a:t>Helps in applying appropriate preprocessing techniques:</a:t>
            </a:r>
          </a:p>
          <a:p>
            <a:pPr lvl="1"/>
            <a:r>
              <a:rPr lang="en-IN" dirty="0"/>
              <a:t>Scaling for numerical features</a:t>
            </a:r>
          </a:p>
          <a:p>
            <a:pPr lvl="1"/>
            <a:r>
              <a:rPr lang="en-IN" dirty="0"/>
              <a:t>Encoding for categorical features</a:t>
            </a:r>
          </a:p>
          <a:p>
            <a:pPr lvl="0"/>
            <a:r>
              <a:rPr lang="en-IN" dirty="0"/>
              <a:t>Ensures the model receives clean, structured input.</a:t>
            </a:r>
          </a:p>
          <a:p>
            <a:endParaRPr lang="en-IN" dirty="0"/>
          </a:p>
        </p:txBody>
      </p:sp>
    </p:spTree>
    <p:extLst>
      <p:ext uri="{BB962C8B-B14F-4D97-AF65-F5344CB8AC3E}">
        <p14:creationId xmlns:p14="http://schemas.microsoft.com/office/powerpoint/2010/main" val="1850881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C5E13-047D-EF7F-DA1F-F91CCC3D69F4}"/>
              </a:ext>
            </a:extLst>
          </p:cNvPr>
          <p:cNvSpPr>
            <a:spLocks noGrp="1"/>
          </p:cNvSpPr>
          <p:nvPr>
            <p:ph type="title"/>
          </p:nvPr>
        </p:nvSpPr>
        <p:spPr/>
        <p:txBody>
          <a:bodyPr/>
          <a:lstStyle/>
          <a:p>
            <a:r>
              <a:rPr lang="en-IN" dirty="0"/>
              <a:t>Preprocessing Pipeline</a:t>
            </a:r>
          </a:p>
        </p:txBody>
      </p:sp>
      <p:sp>
        <p:nvSpPr>
          <p:cNvPr id="3" name="Content Placeholder 2">
            <a:extLst>
              <a:ext uri="{FF2B5EF4-FFF2-40B4-BE49-F238E27FC236}">
                <a16:creationId xmlns:a16="http://schemas.microsoft.com/office/drawing/2014/main" id="{63F7DE63-016B-AF8C-0892-37C1964C4058}"/>
              </a:ext>
            </a:extLst>
          </p:cNvPr>
          <p:cNvSpPr>
            <a:spLocks noGrp="1"/>
          </p:cNvSpPr>
          <p:nvPr>
            <p:ph idx="1"/>
          </p:nvPr>
        </p:nvSpPr>
        <p:spPr/>
        <p:txBody>
          <a:bodyPr>
            <a:normAutofit fontScale="92500" lnSpcReduction="10000"/>
          </a:bodyPr>
          <a:lstStyle/>
          <a:p>
            <a:r>
              <a:rPr lang="en-IN" b="1" dirty="0"/>
              <a:t>1. Numerical Feature Processing</a:t>
            </a:r>
          </a:p>
          <a:p>
            <a:r>
              <a:rPr lang="en-IN" dirty="0"/>
              <a:t>A separate pipeline is created for numerical columns:</a:t>
            </a:r>
          </a:p>
          <a:p>
            <a:pPr lvl="0"/>
            <a:r>
              <a:rPr lang="en-IN" b="1" dirty="0"/>
              <a:t>Median Imputation:</a:t>
            </a:r>
            <a:r>
              <a:rPr lang="en-IN" dirty="0"/>
              <a:t> Missing numeric values are filled using the </a:t>
            </a:r>
            <a:r>
              <a:rPr lang="en-IN" b="1" dirty="0"/>
              <a:t>median</a:t>
            </a:r>
            <a:r>
              <a:rPr lang="en-IN" dirty="0"/>
              <a:t>, which is robust against outliers.</a:t>
            </a:r>
          </a:p>
          <a:p>
            <a:pPr lvl="0"/>
            <a:r>
              <a:rPr lang="en-IN" b="1" dirty="0"/>
              <a:t>Standard Scaling:</a:t>
            </a:r>
            <a:r>
              <a:rPr lang="en-IN" dirty="0"/>
              <a:t> Numerical features are scaled using </a:t>
            </a:r>
            <a:r>
              <a:rPr lang="en-IN" b="1" dirty="0" err="1"/>
              <a:t>StandardScaler</a:t>
            </a:r>
            <a:r>
              <a:rPr lang="en-IN" dirty="0"/>
              <a:t> to normalize their range and improve model performance.</a:t>
            </a:r>
          </a:p>
          <a:p>
            <a:r>
              <a:rPr lang="en-IN" b="1" dirty="0"/>
              <a:t>2. Categorical Feature Processing</a:t>
            </a:r>
          </a:p>
          <a:p>
            <a:r>
              <a:rPr lang="en-IN" dirty="0"/>
              <a:t>A dedicated pipeline handles categorical columns:</a:t>
            </a:r>
          </a:p>
          <a:p>
            <a:pPr lvl="0"/>
            <a:r>
              <a:rPr lang="en-IN" b="1" dirty="0"/>
              <a:t>Most Frequent Imputation:</a:t>
            </a:r>
            <a:r>
              <a:rPr lang="en-IN" dirty="0"/>
              <a:t> Missing categorical values are replaced with the </a:t>
            </a:r>
            <a:r>
              <a:rPr lang="en-IN" b="1" dirty="0"/>
              <a:t>most frequent category</a:t>
            </a:r>
            <a:r>
              <a:rPr lang="en-IN" dirty="0"/>
              <a:t>.</a:t>
            </a:r>
          </a:p>
          <a:p>
            <a:pPr lvl="0"/>
            <a:r>
              <a:rPr lang="en-IN" b="1" dirty="0"/>
              <a:t>One‑Hot Encoding:</a:t>
            </a:r>
            <a:r>
              <a:rPr lang="en-IN" dirty="0"/>
              <a:t> Converts categorical values into binary vectors. </a:t>
            </a:r>
            <a:r>
              <a:rPr lang="en-IN" dirty="0" err="1"/>
              <a:t>handle_unknown</a:t>
            </a:r>
            <a:r>
              <a:rPr lang="en-IN" dirty="0"/>
              <a:t>='ignore' ensures unseen categories during prediction do not break the model.</a:t>
            </a:r>
          </a:p>
          <a:p>
            <a:r>
              <a:rPr lang="en-IN" b="1" dirty="0"/>
              <a:t>3. </a:t>
            </a:r>
            <a:r>
              <a:rPr lang="en-IN" b="1" dirty="0" err="1"/>
              <a:t>ColumnTransformer</a:t>
            </a:r>
            <a:r>
              <a:rPr lang="en-IN" b="1" dirty="0"/>
              <a:t> Integration</a:t>
            </a:r>
          </a:p>
          <a:p>
            <a:pPr lvl="0"/>
            <a:r>
              <a:rPr lang="en-IN" dirty="0"/>
              <a:t>Both pipelines are combined using </a:t>
            </a:r>
            <a:r>
              <a:rPr lang="en-IN" b="1" dirty="0" err="1"/>
              <a:t>ColumnTransformer</a:t>
            </a:r>
            <a:r>
              <a:rPr lang="en-IN" dirty="0"/>
              <a:t>.</a:t>
            </a:r>
          </a:p>
          <a:p>
            <a:pPr lvl="0"/>
            <a:r>
              <a:rPr lang="en-IN" dirty="0"/>
              <a:t>Numerical and categorical transformations are applied </a:t>
            </a:r>
            <a:r>
              <a:rPr lang="en-IN" b="1" dirty="0"/>
              <a:t>simultaneously</a:t>
            </a:r>
            <a:r>
              <a:rPr lang="en-IN" dirty="0"/>
              <a:t> and </a:t>
            </a:r>
            <a:r>
              <a:rPr lang="en-IN" b="1" dirty="0"/>
              <a:t>correctly mapped</a:t>
            </a:r>
            <a:r>
              <a:rPr lang="en-IN" dirty="0"/>
              <a:t> to their respective columns.</a:t>
            </a:r>
          </a:p>
          <a:p>
            <a:pPr lvl="0"/>
            <a:r>
              <a:rPr lang="en-IN" dirty="0"/>
              <a:t>Ensures a clean, consistent preprocessing workflow before model training.</a:t>
            </a:r>
          </a:p>
          <a:p>
            <a:endParaRPr lang="en-IN" dirty="0"/>
          </a:p>
        </p:txBody>
      </p:sp>
    </p:spTree>
    <p:extLst>
      <p:ext uri="{BB962C8B-B14F-4D97-AF65-F5344CB8AC3E}">
        <p14:creationId xmlns:p14="http://schemas.microsoft.com/office/powerpoint/2010/main" val="1472139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1EEDB-822F-3CA0-6A17-CEAA1B70B5CC}"/>
              </a:ext>
            </a:extLst>
          </p:cNvPr>
          <p:cNvSpPr>
            <a:spLocks noGrp="1"/>
          </p:cNvSpPr>
          <p:nvPr>
            <p:ph type="title"/>
          </p:nvPr>
        </p:nvSpPr>
        <p:spPr/>
        <p:txBody>
          <a:bodyPr/>
          <a:lstStyle/>
          <a:p>
            <a:r>
              <a:rPr lang="en-IN" dirty="0"/>
              <a:t>Train–Validation Split</a:t>
            </a:r>
          </a:p>
        </p:txBody>
      </p:sp>
      <p:sp>
        <p:nvSpPr>
          <p:cNvPr id="3" name="Content Placeholder 2">
            <a:extLst>
              <a:ext uri="{FF2B5EF4-FFF2-40B4-BE49-F238E27FC236}">
                <a16:creationId xmlns:a16="http://schemas.microsoft.com/office/drawing/2014/main" id="{9B15BF81-AE3A-95CF-5491-7D68F689199E}"/>
              </a:ext>
            </a:extLst>
          </p:cNvPr>
          <p:cNvSpPr>
            <a:spLocks noGrp="1"/>
          </p:cNvSpPr>
          <p:nvPr>
            <p:ph idx="1"/>
          </p:nvPr>
        </p:nvSpPr>
        <p:spPr/>
        <p:txBody>
          <a:bodyPr/>
          <a:lstStyle/>
          <a:p>
            <a:r>
              <a:rPr lang="en-IN" b="1" dirty="0"/>
              <a:t>Train–Validation Split (80/20)</a:t>
            </a:r>
          </a:p>
          <a:p>
            <a:pPr lvl="0"/>
            <a:r>
              <a:rPr lang="en-IN" dirty="0"/>
              <a:t>The dataset is divided into </a:t>
            </a:r>
            <a:r>
              <a:rPr lang="en-IN" b="1" dirty="0"/>
              <a:t>80% training data</a:t>
            </a:r>
            <a:r>
              <a:rPr lang="en-IN" dirty="0"/>
              <a:t> and </a:t>
            </a:r>
            <a:r>
              <a:rPr lang="en-IN" b="1" dirty="0"/>
              <a:t>20% validation data</a:t>
            </a:r>
            <a:r>
              <a:rPr lang="en-IN" dirty="0"/>
              <a:t> using </a:t>
            </a:r>
            <a:r>
              <a:rPr lang="en-IN" dirty="0" err="1"/>
              <a:t>train_test_split</a:t>
            </a:r>
            <a:r>
              <a:rPr lang="en-IN" dirty="0"/>
              <a:t>.</a:t>
            </a:r>
          </a:p>
          <a:p>
            <a:pPr lvl="0"/>
            <a:r>
              <a:rPr lang="en-IN" b="1" dirty="0"/>
              <a:t>Stratification</a:t>
            </a:r>
            <a:r>
              <a:rPr lang="en-IN" dirty="0"/>
              <a:t> is applied on the target variable to ensure both sets maintain the same class distribution.</a:t>
            </a:r>
          </a:p>
          <a:p>
            <a:pPr lvl="0"/>
            <a:r>
              <a:rPr lang="en-IN" dirty="0"/>
              <a:t>A fixed </a:t>
            </a:r>
            <a:r>
              <a:rPr lang="en-IN" dirty="0" err="1"/>
              <a:t>random_state</a:t>
            </a:r>
            <a:r>
              <a:rPr lang="en-IN" dirty="0"/>
              <a:t>=42 is used to make the split </a:t>
            </a:r>
            <a:r>
              <a:rPr lang="en-IN" b="1" dirty="0"/>
              <a:t>reproducible</a:t>
            </a:r>
            <a:r>
              <a:rPr lang="en-IN" dirty="0"/>
              <a:t>.</a:t>
            </a:r>
          </a:p>
          <a:p>
            <a:pPr lvl="0"/>
            <a:r>
              <a:rPr lang="en-IN" dirty="0"/>
              <a:t>Final shapes:</a:t>
            </a:r>
          </a:p>
          <a:p>
            <a:pPr lvl="1"/>
            <a:r>
              <a:rPr lang="en-IN" b="1" dirty="0"/>
              <a:t>Training set:</a:t>
            </a:r>
            <a:r>
              <a:rPr lang="en-IN" dirty="0"/>
              <a:t> 15,326 samples, 12 features</a:t>
            </a:r>
          </a:p>
          <a:p>
            <a:pPr lvl="1"/>
            <a:r>
              <a:rPr lang="en-IN" b="1" dirty="0"/>
              <a:t>Validation set:</a:t>
            </a:r>
            <a:r>
              <a:rPr lang="en-IN" dirty="0"/>
              <a:t> 3,832 samples, 12 features</a:t>
            </a:r>
          </a:p>
          <a:p>
            <a:pPr lvl="0"/>
            <a:r>
              <a:rPr lang="en-IN" dirty="0"/>
              <a:t>This step ensures that the model is trained on a large portion of data while still having a separate set for unbiased evaluation.</a:t>
            </a:r>
          </a:p>
          <a:p>
            <a:endParaRPr lang="en-IN" dirty="0"/>
          </a:p>
        </p:txBody>
      </p:sp>
    </p:spTree>
    <p:extLst>
      <p:ext uri="{BB962C8B-B14F-4D97-AF65-F5344CB8AC3E}">
        <p14:creationId xmlns:p14="http://schemas.microsoft.com/office/powerpoint/2010/main" val="2700214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1B640-826E-4D00-619E-9D1F31C707AA}"/>
              </a:ext>
            </a:extLst>
          </p:cNvPr>
          <p:cNvSpPr>
            <a:spLocks noGrp="1"/>
          </p:cNvSpPr>
          <p:nvPr>
            <p:ph type="title"/>
          </p:nvPr>
        </p:nvSpPr>
        <p:spPr/>
        <p:txBody>
          <a:bodyPr/>
          <a:lstStyle/>
          <a:p>
            <a:r>
              <a:rPr lang="en-IN" dirty="0"/>
              <a:t>Class Imbalance Check</a:t>
            </a:r>
          </a:p>
        </p:txBody>
      </p:sp>
      <p:sp>
        <p:nvSpPr>
          <p:cNvPr id="3" name="Content Placeholder 2">
            <a:extLst>
              <a:ext uri="{FF2B5EF4-FFF2-40B4-BE49-F238E27FC236}">
                <a16:creationId xmlns:a16="http://schemas.microsoft.com/office/drawing/2014/main" id="{47B70B63-05F7-C86B-7922-1A257D66E281}"/>
              </a:ext>
            </a:extLst>
          </p:cNvPr>
          <p:cNvSpPr>
            <a:spLocks noGrp="1"/>
          </p:cNvSpPr>
          <p:nvPr>
            <p:ph idx="1"/>
          </p:nvPr>
        </p:nvSpPr>
        <p:spPr/>
        <p:txBody>
          <a:bodyPr/>
          <a:lstStyle/>
          <a:p>
            <a:r>
              <a:rPr lang="en-IN" b="1" dirty="0"/>
              <a:t>Class Distribution in Training &amp; Validation Sets</a:t>
            </a:r>
          </a:p>
          <a:p>
            <a:pPr lvl="0"/>
            <a:r>
              <a:rPr lang="en-IN" dirty="0"/>
              <a:t>The class counts for both training and validation sets are printed using </a:t>
            </a:r>
            <a:r>
              <a:rPr lang="en-IN" dirty="0" err="1"/>
              <a:t>value_counts</a:t>
            </a:r>
            <a:r>
              <a:rPr lang="en-IN" dirty="0"/>
              <a:t>().</a:t>
            </a:r>
          </a:p>
          <a:p>
            <a:pPr lvl="0"/>
            <a:r>
              <a:rPr lang="en-IN" b="1" dirty="0"/>
              <a:t>Training Set:</a:t>
            </a:r>
            <a:endParaRPr lang="en-IN" dirty="0"/>
          </a:p>
          <a:p>
            <a:pPr lvl="1"/>
            <a:r>
              <a:rPr lang="en-IN" dirty="0"/>
              <a:t>Class </a:t>
            </a:r>
            <a:r>
              <a:rPr lang="en-IN" b="1" dirty="0"/>
              <a:t>0.0</a:t>
            </a:r>
            <a:r>
              <a:rPr lang="en-IN" dirty="0"/>
              <a:t> → 11,504 samples</a:t>
            </a:r>
          </a:p>
          <a:p>
            <a:pPr lvl="1"/>
            <a:r>
              <a:rPr lang="en-IN" dirty="0"/>
              <a:t>Class </a:t>
            </a:r>
            <a:r>
              <a:rPr lang="en-IN" b="1" dirty="0"/>
              <a:t>1.0</a:t>
            </a:r>
            <a:r>
              <a:rPr lang="en-IN" dirty="0"/>
              <a:t> → 3,822 samples</a:t>
            </a:r>
          </a:p>
          <a:p>
            <a:pPr lvl="0"/>
            <a:r>
              <a:rPr lang="en-IN" b="1" dirty="0"/>
              <a:t>Validation Set:</a:t>
            </a:r>
            <a:endParaRPr lang="en-IN" dirty="0"/>
          </a:p>
          <a:p>
            <a:pPr lvl="1"/>
            <a:r>
              <a:rPr lang="en-IN" dirty="0"/>
              <a:t>Class </a:t>
            </a:r>
            <a:r>
              <a:rPr lang="en-IN" b="1" dirty="0"/>
              <a:t>0.0</a:t>
            </a:r>
            <a:r>
              <a:rPr lang="en-IN" dirty="0"/>
              <a:t> → 2,877 samples</a:t>
            </a:r>
          </a:p>
          <a:p>
            <a:pPr lvl="1"/>
            <a:r>
              <a:rPr lang="en-IN" dirty="0"/>
              <a:t>Class </a:t>
            </a:r>
            <a:r>
              <a:rPr lang="en-IN" b="1" dirty="0"/>
              <a:t>1.0</a:t>
            </a:r>
            <a:r>
              <a:rPr lang="en-IN" dirty="0"/>
              <a:t> → 955 samples</a:t>
            </a:r>
          </a:p>
          <a:p>
            <a:r>
              <a:rPr lang="en-IN" b="1" dirty="0"/>
              <a:t>Key Insight</a:t>
            </a:r>
          </a:p>
          <a:p>
            <a:pPr lvl="0"/>
            <a:r>
              <a:rPr lang="en-IN" dirty="0"/>
              <a:t>Both sets show a </a:t>
            </a:r>
            <a:r>
              <a:rPr lang="en-IN" b="1" dirty="0"/>
              <a:t>significant class imbalance</a:t>
            </a:r>
            <a:r>
              <a:rPr lang="en-IN" dirty="0"/>
              <a:t>, with class </a:t>
            </a:r>
            <a:r>
              <a:rPr lang="en-IN" b="1" dirty="0"/>
              <a:t>0.0</a:t>
            </a:r>
            <a:r>
              <a:rPr lang="en-IN" dirty="0"/>
              <a:t> being much more frequent than class </a:t>
            </a:r>
            <a:r>
              <a:rPr lang="en-IN" b="1" dirty="0"/>
              <a:t>1.0</a:t>
            </a:r>
            <a:r>
              <a:rPr lang="en-IN" dirty="0"/>
              <a:t>.</a:t>
            </a:r>
          </a:p>
          <a:p>
            <a:pPr lvl="0"/>
            <a:r>
              <a:rPr lang="en-IN" dirty="0"/>
              <a:t>This imbalance can negatively affect model performance, especially recall for minority class.</a:t>
            </a:r>
          </a:p>
          <a:p>
            <a:pPr lvl="0"/>
            <a:r>
              <a:rPr lang="en-IN" dirty="0"/>
              <a:t>Therefore, techniques like </a:t>
            </a:r>
            <a:r>
              <a:rPr lang="en-IN" b="1" dirty="0"/>
              <a:t>SMOTE</a:t>
            </a:r>
            <a:r>
              <a:rPr lang="en-IN" dirty="0"/>
              <a:t> or class‑weight adjustments are needed to balance the dataset before training.</a:t>
            </a:r>
          </a:p>
          <a:p>
            <a:endParaRPr lang="en-IN" dirty="0"/>
          </a:p>
        </p:txBody>
      </p:sp>
    </p:spTree>
    <p:extLst>
      <p:ext uri="{BB962C8B-B14F-4D97-AF65-F5344CB8AC3E}">
        <p14:creationId xmlns:p14="http://schemas.microsoft.com/office/powerpoint/2010/main" val="3462725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9813F-0D1A-9873-BE5B-8023FF744FF8}"/>
              </a:ext>
            </a:extLst>
          </p:cNvPr>
          <p:cNvSpPr>
            <a:spLocks noGrp="1"/>
          </p:cNvSpPr>
          <p:nvPr>
            <p:ph type="title"/>
          </p:nvPr>
        </p:nvSpPr>
        <p:spPr>
          <a:xfrm>
            <a:off x="457200" y="0"/>
            <a:ext cx="11277599" cy="647700"/>
          </a:xfrm>
        </p:spPr>
        <p:txBody>
          <a:bodyPr/>
          <a:lstStyle/>
          <a:p>
            <a:r>
              <a:rPr lang="en-IN" dirty="0"/>
              <a:t>Model Training &amp; Evaluation Function</a:t>
            </a:r>
          </a:p>
        </p:txBody>
      </p:sp>
      <p:sp>
        <p:nvSpPr>
          <p:cNvPr id="3" name="Content Placeholder 2">
            <a:extLst>
              <a:ext uri="{FF2B5EF4-FFF2-40B4-BE49-F238E27FC236}">
                <a16:creationId xmlns:a16="http://schemas.microsoft.com/office/drawing/2014/main" id="{3CF87096-5858-C628-583B-95071D7EB1AD}"/>
              </a:ext>
            </a:extLst>
          </p:cNvPr>
          <p:cNvSpPr>
            <a:spLocks noGrp="1"/>
          </p:cNvSpPr>
          <p:nvPr>
            <p:ph idx="1"/>
          </p:nvPr>
        </p:nvSpPr>
        <p:spPr>
          <a:xfrm>
            <a:off x="457200" y="542925"/>
            <a:ext cx="11277599" cy="5857875"/>
          </a:xfrm>
        </p:spPr>
        <p:txBody>
          <a:bodyPr>
            <a:normAutofit fontScale="85000" lnSpcReduction="20000"/>
          </a:bodyPr>
          <a:lstStyle/>
          <a:p>
            <a:r>
              <a:rPr lang="en-IN" b="1" dirty="0"/>
              <a:t>1. Unified Training Pipeline</a:t>
            </a:r>
          </a:p>
          <a:p>
            <a:r>
              <a:rPr lang="en-IN" dirty="0"/>
              <a:t>A custom function </a:t>
            </a:r>
            <a:r>
              <a:rPr lang="en-IN" dirty="0" err="1"/>
              <a:t>evaluate_model</a:t>
            </a:r>
            <a:r>
              <a:rPr lang="en-IN" dirty="0"/>
              <a:t>() is created to streamline model training and evaluation. It builds a complete pipeline consisting of:</a:t>
            </a:r>
          </a:p>
          <a:p>
            <a:pPr lvl="0"/>
            <a:r>
              <a:rPr lang="en-IN" b="1" dirty="0"/>
              <a:t>Preprocessing</a:t>
            </a:r>
            <a:r>
              <a:rPr lang="en-IN" dirty="0"/>
              <a:t> (numeric scaling + categorical encoding)</a:t>
            </a:r>
          </a:p>
          <a:p>
            <a:pPr lvl="0"/>
            <a:r>
              <a:rPr lang="en-IN" b="1" dirty="0"/>
              <a:t>SMOTE</a:t>
            </a:r>
            <a:r>
              <a:rPr lang="en-IN" dirty="0"/>
              <a:t> (to balance classes)</a:t>
            </a:r>
          </a:p>
          <a:p>
            <a:pPr lvl="0"/>
            <a:r>
              <a:rPr lang="en-IN" b="1" dirty="0"/>
              <a:t>Classifier</a:t>
            </a:r>
            <a:r>
              <a:rPr lang="en-IN" dirty="0"/>
              <a:t> (model passed as input)</a:t>
            </a:r>
          </a:p>
          <a:p>
            <a:r>
              <a:rPr lang="en-IN" dirty="0"/>
              <a:t>This ensures consistent preprocessing and balanced training for every model tested.</a:t>
            </a:r>
          </a:p>
          <a:p>
            <a:r>
              <a:rPr lang="en-IN" b="1" dirty="0"/>
              <a:t>2. Model Fitting</a:t>
            </a:r>
          </a:p>
          <a:p>
            <a:pPr lvl="0"/>
            <a:r>
              <a:rPr lang="en-IN" dirty="0"/>
              <a:t>The pipeline is trained on </a:t>
            </a:r>
            <a:r>
              <a:rPr lang="en-IN" b="1" dirty="0" err="1"/>
              <a:t>X_train</a:t>
            </a:r>
            <a:r>
              <a:rPr lang="en-IN" dirty="0"/>
              <a:t> and </a:t>
            </a:r>
            <a:r>
              <a:rPr lang="en-IN" b="1" dirty="0" err="1"/>
              <a:t>y_train</a:t>
            </a:r>
            <a:r>
              <a:rPr lang="en-IN" dirty="0"/>
              <a:t>.</a:t>
            </a:r>
          </a:p>
          <a:p>
            <a:pPr lvl="0"/>
            <a:r>
              <a:rPr lang="en-IN" dirty="0"/>
              <a:t>SMOTE is applied </a:t>
            </a:r>
            <a:r>
              <a:rPr lang="en-IN" b="1" dirty="0"/>
              <a:t>inside the pipeline</a:t>
            </a:r>
            <a:r>
              <a:rPr lang="en-IN" dirty="0"/>
              <a:t>, preventing data leakage and ensuring proper oversampling only on training data.</a:t>
            </a:r>
          </a:p>
          <a:p>
            <a:r>
              <a:rPr lang="en-IN" b="1" dirty="0"/>
              <a:t>3. Predictions &amp; Probabilities</a:t>
            </a:r>
          </a:p>
          <a:p>
            <a:pPr lvl="0"/>
            <a:r>
              <a:rPr lang="en-IN" dirty="0"/>
              <a:t>The model predicts class labels (</a:t>
            </a:r>
            <a:r>
              <a:rPr lang="en-IN" dirty="0" err="1"/>
              <a:t>y_pred</a:t>
            </a:r>
            <a:r>
              <a:rPr lang="en-IN" dirty="0"/>
              <a:t>) on the validation set.</a:t>
            </a:r>
          </a:p>
          <a:p>
            <a:pPr lvl="0"/>
            <a:r>
              <a:rPr lang="en-IN" dirty="0"/>
              <a:t>It also generates probability scores (</a:t>
            </a:r>
            <a:r>
              <a:rPr lang="en-IN" dirty="0" err="1"/>
              <a:t>y_proba</a:t>
            </a:r>
            <a:r>
              <a:rPr lang="en-IN" dirty="0"/>
              <a:t>) for ROC‑AUC evaluation.</a:t>
            </a:r>
          </a:p>
          <a:p>
            <a:r>
              <a:rPr lang="en-IN" b="1" dirty="0"/>
              <a:t>4. Evaluation Metrics</a:t>
            </a:r>
          </a:p>
          <a:p>
            <a:r>
              <a:rPr lang="en-IN" dirty="0"/>
              <a:t>The function prints:</a:t>
            </a:r>
          </a:p>
          <a:p>
            <a:pPr lvl="0"/>
            <a:r>
              <a:rPr lang="en-IN" b="1" dirty="0"/>
              <a:t>Accuracy</a:t>
            </a:r>
            <a:endParaRPr lang="en-IN" dirty="0"/>
          </a:p>
          <a:p>
            <a:pPr lvl="0"/>
            <a:r>
              <a:rPr lang="en-IN" b="1" dirty="0"/>
              <a:t>ROC‑AUC Score</a:t>
            </a:r>
            <a:endParaRPr lang="en-IN" dirty="0"/>
          </a:p>
          <a:p>
            <a:pPr lvl="0"/>
            <a:r>
              <a:rPr lang="en-IN" b="1" dirty="0"/>
              <a:t>Confusion Matrix</a:t>
            </a:r>
            <a:endParaRPr lang="en-IN" dirty="0"/>
          </a:p>
          <a:p>
            <a:pPr lvl="0"/>
            <a:r>
              <a:rPr lang="en-IN" b="1" dirty="0"/>
              <a:t>Classification Report</a:t>
            </a:r>
            <a:r>
              <a:rPr lang="en-IN" dirty="0"/>
              <a:t> (precision, recall, F1‑score)</a:t>
            </a:r>
          </a:p>
          <a:p>
            <a:r>
              <a:rPr lang="en-IN" dirty="0"/>
              <a:t>These metrics provide a complete performance overview.</a:t>
            </a:r>
          </a:p>
          <a:p>
            <a:endParaRPr lang="en-IN" dirty="0"/>
          </a:p>
        </p:txBody>
      </p:sp>
    </p:spTree>
    <p:extLst>
      <p:ext uri="{BB962C8B-B14F-4D97-AF65-F5344CB8AC3E}">
        <p14:creationId xmlns:p14="http://schemas.microsoft.com/office/powerpoint/2010/main" val="4181786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9603-C04F-6F9F-381B-99A0F5A7DCB8}"/>
              </a:ext>
            </a:extLst>
          </p:cNvPr>
          <p:cNvSpPr>
            <a:spLocks noGrp="1"/>
          </p:cNvSpPr>
          <p:nvPr>
            <p:ph type="title"/>
          </p:nvPr>
        </p:nvSpPr>
        <p:spPr>
          <a:xfrm>
            <a:off x="457200" y="0"/>
            <a:ext cx="11277599" cy="243840"/>
          </a:xfrm>
        </p:spPr>
        <p:txBody>
          <a:bodyPr>
            <a:normAutofit fontScale="90000"/>
          </a:bodyPr>
          <a:lstStyle/>
          <a:p>
            <a:r>
              <a:rPr lang="en-US" dirty="0"/>
              <a:t>-</a:t>
            </a:r>
            <a:endParaRPr lang="en-IN" dirty="0"/>
          </a:p>
        </p:txBody>
      </p:sp>
      <p:sp>
        <p:nvSpPr>
          <p:cNvPr id="3" name="Content Placeholder 2">
            <a:extLst>
              <a:ext uri="{FF2B5EF4-FFF2-40B4-BE49-F238E27FC236}">
                <a16:creationId xmlns:a16="http://schemas.microsoft.com/office/drawing/2014/main" id="{91A98D8F-2B54-EEF8-FAB7-862B2EA29E16}"/>
              </a:ext>
            </a:extLst>
          </p:cNvPr>
          <p:cNvSpPr>
            <a:spLocks noGrp="1"/>
          </p:cNvSpPr>
          <p:nvPr>
            <p:ph idx="1"/>
          </p:nvPr>
        </p:nvSpPr>
        <p:spPr>
          <a:xfrm>
            <a:off x="457200" y="335280"/>
            <a:ext cx="11277599" cy="6065520"/>
          </a:xfrm>
        </p:spPr>
        <p:txBody>
          <a:bodyPr/>
          <a:lstStyle/>
          <a:p>
            <a:r>
              <a:rPr lang="en-IN" b="1" dirty="0"/>
              <a:t>5. ROC Curve Visualization</a:t>
            </a:r>
          </a:p>
          <a:p>
            <a:pPr lvl="0"/>
            <a:r>
              <a:rPr lang="en-IN" dirty="0"/>
              <a:t>A ROC curve is plotted using </a:t>
            </a:r>
            <a:r>
              <a:rPr lang="en-IN" dirty="0" err="1"/>
              <a:t>RocCurveDisplay</a:t>
            </a:r>
            <a:r>
              <a:rPr lang="en-IN" dirty="0"/>
              <a:t>.</a:t>
            </a:r>
          </a:p>
          <a:p>
            <a:pPr lvl="0"/>
            <a:r>
              <a:rPr lang="en-IN" dirty="0"/>
              <a:t>Helps visualize model performance across different thresholds.</a:t>
            </a:r>
          </a:p>
          <a:p>
            <a:r>
              <a:rPr lang="en-IN" b="1" dirty="0"/>
              <a:t>6. Return Values</a:t>
            </a:r>
          </a:p>
          <a:p>
            <a:r>
              <a:rPr lang="en-IN" dirty="0"/>
              <a:t>The function returns:</a:t>
            </a:r>
          </a:p>
          <a:p>
            <a:pPr lvl="0"/>
            <a:r>
              <a:rPr lang="en-IN" dirty="0"/>
              <a:t>The </a:t>
            </a:r>
            <a:r>
              <a:rPr lang="en-IN" b="1" dirty="0"/>
              <a:t>trained pipeline</a:t>
            </a:r>
            <a:endParaRPr lang="en-IN" dirty="0"/>
          </a:p>
          <a:p>
            <a:pPr lvl="0"/>
            <a:r>
              <a:rPr lang="en-IN" b="1" dirty="0"/>
              <a:t>Accuracy</a:t>
            </a:r>
            <a:endParaRPr lang="en-IN" dirty="0"/>
          </a:p>
          <a:p>
            <a:pPr lvl="0"/>
            <a:r>
              <a:rPr lang="en-IN" b="1" dirty="0"/>
              <a:t>ROC‑AUC score</a:t>
            </a:r>
            <a:endParaRPr lang="en-IN" dirty="0"/>
          </a:p>
          <a:p>
            <a:r>
              <a:rPr lang="en-IN" dirty="0"/>
              <a:t>This makes it easy to store and compare multiple models.</a:t>
            </a:r>
          </a:p>
          <a:p>
            <a:endParaRPr lang="en-IN" dirty="0"/>
          </a:p>
        </p:txBody>
      </p:sp>
    </p:spTree>
    <p:extLst>
      <p:ext uri="{BB962C8B-B14F-4D97-AF65-F5344CB8AC3E}">
        <p14:creationId xmlns:p14="http://schemas.microsoft.com/office/powerpoint/2010/main" val="2750833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851E3-5464-682D-9C78-25EB2EE013C3}"/>
              </a:ext>
            </a:extLst>
          </p:cNvPr>
          <p:cNvSpPr>
            <a:spLocks noGrp="1"/>
          </p:cNvSpPr>
          <p:nvPr>
            <p:ph type="title"/>
          </p:nvPr>
        </p:nvSpPr>
        <p:spPr>
          <a:xfrm>
            <a:off x="457200" y="490128"/>
            <a:ext cx="11277599" cy="643347"/>
          </a:xfrm>
        </p:spPr>
        <p:txBody>
          <a:bodyPr/>
          <a:lstStyle/>
          <a:p>
            <a:r>
              <a:rPr lang="en-IN" dirty="0"/>
              <a:t>Models Used</a:t>
            </a:r>
          </a:p>
        </p:txBody>
      </p:sp>
      <p:sp>
        <p:nvSpPr>
          <p:cNvPr id="3" name="Content Placeholder 2">
            <a:extLst>
              <a:ext uri="{FF2B5EF4-FFF2-40B4-BE49-F238E27FC236}">
                <a16:creationId xmlns:a16="http://schemas.microsoft.com/office/drawing/2014/main" id="{40BC463A-E2F2-A680-45FF-A9E3779708C4}"/>
              </a:ext>
            </a:extLst>
          </p:cNvPr>
          <p:cNvSpPr>
            <a:spLocks noGrp="1"/>
          </p:cNvSpPr>
          <p:nvPr>
            <p:ph idx="1"/>
          </p:nvPr>
        </p:nvSpPr>
        <p:spPr>
          <a:xfrm>
            <a:off x="457200" y="1133475"/>
            <a:ext cx="11277599" cy="5267325"/>
          </a:xfrm>
        </p:spPr>
        <p:txBody>
          <a:bodyPr>
            <a:normAutofit fontScale="70000" lnSpcReduction="20000"/>
          </a:bodyPr>
          <a:lstStyle/>
          <a:p>
            <a:r>
              <a:rPr lang="en-IN" b="1" dirty="0"/>
              <a:t>1. Logistic Regression</a:t>
            </a:r>
            <a:endParaRPr lang="en-IN" dirty="0"/>
          </a:p>
          <a:p>
            <a:pPr lvl="0"/>
            <a:r>
              <a:rPr lang="en-IN" dirty="0"/>
              <a:t>Simple baseline model</a:t>
            </a:r>
          </a:p>
          <a:p>
            <a:pPr lvl="0"/>
            <a:r>
              <a:rPr lang="en-IN" dirty="0"/>
              <a:t>Good for linear relationships</a:t>
            </a:r>
          </a:p>
          <a:p>
            <a:pPr lvl="0"/>
            <a:r>
              <a:rPr lang="en-IN" dirty="0"/>
              <a:t>Helps compare performance with advanced models</a:t>
            </a:r>
          </a:p>
          <a:p>
            <a:r>
              <a:rPr lang="en-IN" b="1" dirty="0"/>
              <a:t>2. Random Forest Classifier</a:t>
            </a:r>
            <a:endParaRPr lang="en-IN" dirty="0"/>
          </a:p>
          <a:p>
            <a:pPr lvl="0"/>
            <a:r>
              <a:rPr lang="en-IN" dirty="0"/>
              <a:t>Ensemble of decision trees</a:t>
            </a:r>
          </a:p>
          <a:p>
            <a:pPr lvl="0"/>
            <a:r>
              <a:rPr lang="en-IN" dirty="0"/>
              <a:t>Handles non‑linear patterns well</a:t>
            </a:r>
          </a:p>
          <a:p>
            <a:pPr lvl="0"/>
            <a:r>
              <a:rPr lang="en-IN" dirty="0"/>
              <a:t>Works effectively with mixed data types</a:t>
            </a:r>
          </a:p>
          <a:p>
            <a:r>
              <a:rPr lang="en-IN" b="1" dirty="0"/>
              <a:t>3. </a:t>
            </a:r>
            <a:r>
              <a:rPr lang="en-IN" b="1" dirty="0" err="1"/>
              <a:t>XGBoost</a:t>
            </a:r>
            <a:r>
              <a:rPr lang="en-IN" b="1" dirty="0"/>
              <a:t> Classifier</a:t>
            </a:r>
            <a:endParaRPr lang="en-IN" dirty="0"/>
          </a:p>
          <a:p>
            <a:pPr lvl="0"/>
            <a:r>
              <a:rPr lang="en-IN" dirty="0"/>
              <a:t>Gradient boosting algorithm</a:t>
            </a:r>
          </a:p>
          <a:p>
            <a:pPr lvl="0"/>
            <a:r>
              <a:rPr lang="en-IN" dirty="0"/>
              <a:t>Excellent for tabular data</a:t>
            </a:r>
          </a:p>
          <a:p>
            <a:pPr lvl="0"/>
            <a:r>
              <a:rPr lang="en-IN" dirty="0"/>
              <a:t>Handles missing values internally</a:t>
            </a:r>
          </a:p>
          <a:p>
            <a:pPr lvl="0"/>
            <a:r>
              <a:rPr lang="en-IN" dirty="0"/>
              <a:t>High performance in many ML competitions</a:t>
            </a:r>
          </a:p>
          <a:p>
            <a:r>
              <a:rPr lang="en-IN" b="1" dirty="0"/>
              <a:t>4. </a:t>
            </a:r>
            <a:r>
              <a:rPr lang="en-IN" b="1" dirty="0" err="1"/>
              <a:t>LightGBM</a:t>
            </a:r>
            <a:r>
              <a:rPr lang="en-IN" b="1" dirty="0"/>
              <a:t> Classifier (Best Model)</a:t>
            </a:r>
            <a:endParaRPr lang="en-IN" dirty="0"/>
          </a:p>
          <a:p>
            <a:pPr lvl="0"/>
            <a:r>
              <a:rPr lang="en-IN" dirty="0"/>
              <a:t>Fast and efficient boosting algorithm</a:t>
            </a:r>
          </a:p>
          <a:p>
            <a:pPr lvl="0"/>
            <a:r>
              <a:rPr lang="en-IN" dirty="0"/>
              <a:t>Works well with large datasets</a:t>
            </a:r>
          </a:p>
          <a:p>
            <a:pPr lvl="0"/>
            <a:r>
              <a:rPr lang="en-IN" dirty="0"/>
              <a:t>Handles categorical features effectively</a:t>
            </a:r>
          </a:p>
          <a:p>
            <a:pPr lvl="0"/>
            <a:r>
              <a:rPr lang="en-IN" dirty="0"/>
              <a:t>Achieved the highest ROC‑AUC score</a:t>
            </a:r>
          </a:p>
          <a:p>
            <a:endParaRPr lang="en-IN" dirty="0"/>
          </a:p>
        </p:txBody>
      </p:sp>
    </p:spTree>
    <p:extLst>
      <p:ext uri="{BB962C8B-B14F-4D97-AF65-F5344CB8AC3E}">
        <p14:creationId xmlns:p14="http://schemas.microsoft.com/office/powerpoint/2010/main" val="3812415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5C6F55-E193-E9E9-F854-760BF716D7CE}"/>
              </a:ext>
            </a:extLst>
          </p:cNvPr>
          <p:cNvSpPr>
            <a:spLocks noGrp="1"/>
          </p:cNvSpPr>
          <p:nvPr>
            <p:ph type="title"/>
          </p:nvPr>
        </p:nvSpPr>
        <p:spPr>
          <a:xfrm>
            <a:off x="457200" y="457200"/>
            <a:ext cx="3200400" cy="2307896"/>
          </a:xfrm>
        </p:spPr>
        <p:txBody>
          <a:bodyPr/>
          <a:lstStyle/>
          <a:p>
            <a:r>
              <a:rPr lang="en-IN" dirty="0"/>
              <a:t>Model Performance Comparison</a:t>
            </a:r>
            <a:endParaRPr lang="en-US" dirty="0"/>
          </a:p>
        </p:txBody>
      </p:sp>
      <p:sp>
        <p:nvSpPr>
          <p:cNvPr id="12" name="Content Placeholder 2">
            <a:extLst>
              <a:ext uri="{FF2B5EF4-FFF2-40B4-BE49-F238E27FC236}">
                <a16:creationId xmlns:a16="http://schemas.microsoft.com/office/drawing/2014/main" id="{B4BCB3EC-0C19-412C-7263-4B1C5DEB5A31}"/>
              </a:ext>
            </a:extLst>
          </p:cNvPr>
          <p:cNvSpPr>
            <a:spLocks noGrp="1"/>
          </p:cNvSpPr>
          <p:nvPr>
            <p:ph sz="quarter" idx="15"/>
          </p:nvPr>
        </p:nvSpPr>
        <p:spPr>
          <a:xfrm>
            <a:off x="4122370" y="457200"/>
            <a:ext cx="7612430" cy="2307896"/>
          </a:xfrm>
        </p:spPr>
        <p:txBody>
          <a:bodyPr/>
          <a:lstStyle/>
          <a:p>
            <a:r>
              <a:rPr lang="en-IN" b="1" dirty="0"/>
              <a:t>Comparison of Machine Learning Models</a:t>
            </a:r>
          </a:p>
          <a:p>
            <a:r>
              <a:rPr lang="en-IN" dirty="0"/>
              <a:t>A results table is created to compare four different machine learning models based on </a:t>
            </a:r>
            <a:r>
              <a:rPr lang="en-IN" b="1" dirty="0"/>
              <a:t>Accuracy</a:t>
            </a:r>
            <a:r>
              <a:rPr lang="en-IN" dirty="0"/>
              <a:t> and </a:t>
            </a:r>
            <a:r>
              <a:rPr lang="en-IN" b="1" dirty="0"/>
              <a:t>ROC‑AUC</a:t>
            </a:r>
            <a:r>
              <a:rPr lang="en-IN" dirty="0"/>
              <a:t>:</a:t>
            </a:r>
          </a:p>
          <a:p>
            <a:endParaRPr lang="en-US" dirty="0"/>
          </a:p>
        </p:txBody>
      </p:sp>
      <p:pic>
        <p:nvPicPr>
          <p:cNvPr id="5" name="Content Placeholder 4">
            <a:extLst>
              <a:ext uri="{FF2B5EF4-FFF2-40B4-BE49-F238E27FC236}">
                <a16:creationId xmlns:a16="http://schemas.microsoft.com/office/drawing/2014/main" id="{57BB704D-557B-D260-DD0F-FF96BA21BF3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p:blipFill>
        <p:spPr>
          <a:xfrm>
            <a:off x="578071" y="3219122"/>
            <a:ext cx="11035857" cy="3200398"/>
          </a:xfrm>
          <a:prstGeom prst="rect">
            <a:avLst/>
          </a:prstGeom>
          <a:noFill/>
        </p:spPr>
      </p:pic>
    </p:spTree>
    <p:extLst>
      <p:ext uri="{BB962C8B-B14F-4D97-AF65-F5344CB8AC3E}">
        <p14:creationId xmlns:p14="http://schemas.microsoft.com/office/powerpoint/2010/main" val="3876565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1AAF-B330-2A2D-1D1F-1736DE75B4D5}"/>
              </a:ext>
            </a:extLst>
          </p:cNvPr>
          <p:cNvSpPr>
            <a:spLocks noGrp="1"/>
          </p:cNvSpPr>
          <p:nvPr>
            <p:ph type="title"/>
          </p:nvPr>
        </p:nvSpPr>
        <p:spPr/>
        <p:txBody>
          <a:bodyPr>
            <a:normAutofit fontScale="90000"/>
          </a:bodyPr>
          <a:lstStyle/>
          <a:p>
            <a:r>
              <a:rPr lang="en-IN" b="1" dirty="0"/>
              <a:t>Feature Importance (Random Forest) – Results Included</a:t>
            </a:r>
            <a:br>
              <a:rPr lang="en-IN" b="1" dirty="0"/>
            </a:br>
            <a:endParaRPr lang="en-IN" dirty="0"/>
          </a:p>
        </p:txBody>
      </p:sp>
      <p:sp>
        <p:nvSpPr>
          <p:cNvPr id="3" name="Content Placeholder 2">
            <a:extLst>
              <a:ext uri="{FF2B5EF4-FFF2-40B4-BE49-F238E27FC236}">
                <a16:creationId xmlns:a16="http://schemas.microsoft.com/office/drawing/2014/main" id="{AC608B49-893A-02C6-4A70-1DCCAAFED58F}"/>
              </a:ext>
            </a:extLst>
          </p:cNvPr>
          <p:cNvSpPr>
            <a:spLocks noGrp="1"/>
          </p:cNvSpPr>
          <p:nvPr>
            <p:ph idx="1"/>
          </p:nvPr>
        </p:nvSpPr>
        <p:spPr/>
        <p:txBody>
          <a:bodyPr/>
          <a:lstStyle/>
          <a:p>
            <a:r>
              <a:rPr lang="en-IN" b="1" dirty="0"/>
              <a:t>How Feature Importance Was Extracted</a:t>
            </a:r>
          </a:p>
          <a:p>
            <a:pPr lvl="0"/>
            <a:endParaRPr lang="en-IN" dirty="0"/>
          </a:p>
          <a:p>
            <a:pPr lvl="0"/>
            <a:r>
              <a:rPr lang="en-IN" dirty="0"/>
              <a:t>A Random Forest model was trained using a preprocessing pipeline.</a:t>
            </a:r>
          </a:p>
          <a:p>
            <a:pPr lvl="0"/>
            <a:endParaRPr lang="en-IN" dirty="0"/>
          </a:p>
          <a:p>
            <a:pPr lvl="0"/>
            <a:r>
              <a:rPr lang="en-IN" dirty="0"/>
              <a:t>Because categorical features are one‑hot encoded, a separate pipeline (without SMOTE) was fitted to extract the </a:t>
            </a:r>
            <a:r>
              <a:rPr lang="en-IN" b="1" dirty="0"/>
              <a:t>transformed feature names</a:t>
            </a:r>
            <a:r>
              <a:rPr lang="en-IN" dirty="0"/>
              <a:t>.</a:t>
            </a:r>
          </a:p>
          <a:p>
            <a:pPr lvl="0"/>
            <a:endParaRPr lang="en-IN" dirty="0"/>
          </a:p>
          <a:p>
            <a:pPr lvl="0"/>
            <a:r>
              <a:rPr lang="en-IN" dirty="0"/>
              <a:t>Numeric features remain unchanged; categorical features expand into multiple binary columns.</a:t>
            </a:r>
          </a:p>
          <a:p>
            <a:pPr lvl="0"/>
            <a:endParaRPr lang="en-IN" dirty="0"/>
          </a:p>
          <a:p>
            <a:pPr lvl="0"/>
            <a:r>
              <a:rPr lang="en-IN" dirty="0"/>
              <a:t>These names were combined with Random Forest’s </a:t>
            </a:r>
            <a:r>
              <a:rPr lang="en-IN" dirty="0" err="1"/>
              <a:t>feature_importances</a:t>
            </a:r>
            <a:r>
              <a:rPr lang="en-IN" dirty="0"/>
              <a:t>_ to generate a complete importance ranking.</a:t>
            </a:r>
          </a:p>
          <a:p>
            <a:endParaRPr lang="en-IN" dirty="0"/>
          </a:p>
        </p:txBody>
      </p:sp>
    </p:spTree>
    <p:extLst>
      <p:ext uri="{BB962C8B-B14F-4D97-AF65-F5344CB8AC3E}">
        <p14:creationId xmlns:p14="http://schemas.microsoft.com/office/powerpoint/2010/main" val="2564878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02A6B-C248-5E00-C17E-67764C5E81D9}"/>
              </a:ext>
            </a:extLst>
          </p:cNvPr>
          <p:cNvSpPr>
            <a:spLocks noGrp="1"/>
          </p:cNvSpPr>
          <p:nvPr>
            <p:ph type="title"/>
          </p:nvPr>
        </p:nvSpPr>
        <p:spPr/>
        <p:txBody>
          <a:bodyPr/>
          <a:lstStyle/>
          <a:p>
            <a:r>
              <a:rPr lang="en-IN" dirty="0"/>
              <a:t>Top Feature Importance Results</a:t>
            </a:r>
          </a:p>
        </p:txBody>
      </p:sp>
      <p:pic>
        <p:nvPicPr>
          <p:cNvPr id="5" name="Content Placeholder 4">
            <a:extLst>
              <a:ext uri="{FF2B5EF4-FFF2-40B4-BE49-F238E27FC236}">
                <a16:creationId xmlns:a16="http://schemas.microsoft.com/office/drawing/2014/main" id="{FD3D82BE-93A8-E494-BABA-955AB693AD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280" y="1178560"/>
            <a:ext cx="12110720" cy="5679439"/>
          </a:xfrm>
          <a:prstGeom prst="rect">
            <a:avLst/>
          </a:prstGeom>
        </p:spPr>
      </p:pic>
    </p:spTree>
    <p:extLst>
      <p:ext uri="{BB962C8B-B14F-4D97-AF65-F5344CB8AC3E}">
        <p14:creationId xmlns:p14="http://schemas.microsoft.com/office/powerpoint/2010/main" val="2202801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B1ED4-D771-4ABB-4DC5-C633926C389B}"/>
              </a:ext>
            </a:extLst>
          </p:cNvPr>
          <p:cNvSpPr>
            <a:spLocks noGrp="1"/>
          </p:cNvSpPr>
          <p:nvPr>
            <p:ph type="title"/>
          </p:nvPr>
        </p:nvSpPr>
        <p:spPr>
          <a:xfrm>
            <a:off x="457200" y="0"/>
            <a:ext cx="11277599" cy="91440"/>
          </a:xfrm>
        </p:spPr>
        <p:txBody>
          <a:bodyPr>
            <a:normAutofit fontScale="90000"/>
          </a:bodyPr>
          <a:lstStyle/>
          <a:p>
            <a:r>
              <a:rPr lang="en-US" dirty="0"/>
              <a:t>-</a:t>
            </a:r>
            <a:br>
              <a:rPr lang="en-US" dirty="0"/>
            </a:br>
            <a:endParaRPr lang="en-IN" dirty="0"/>
          </a:p>
        </p:txBody>
      </p:sp>
      <p:pic>
        <p:nvPicPr>
          <p:cNvPr id="5" name="Content Placeholder 4">
            <a:extLst>
              <a:ext uri="{FF2B5EF4-FFF2-40B4-BE49-F238E27FC236}">
                <a16:creationId xmlns:a16="http://schemas.microsoft.com/office/drawing/2014/main" id="{7FB026C9-19C3-3B4E-C0A6-B58041B7B3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61" y="45720"/>
            <a:ext cx="12192000" cy="6151935"/>
          </a:xfrm>
          <a:prstGeom prst="rect">
            <a:avLst/>
          </a:prstGeom>
        </p:spPr>
      </p:pic>
    </p:spTree>
    <p:extLst>
      <p:ext uri="{BB962C8B-B14F-4D97-AF65-F5344CB8AC3E}">
        <p14:creationId xmlns:p14="http://schemas.microsoft.com/office/powerpoint/2010/main" val="2110736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5A83C-7CB5-55DF-FEDB-6CF2F37B0E9B}"/>
              </a:ext>
            </a:extLst>
          </p:cNvPr>
          <p:cNvSpPr>
            <a:spLocks noGrp="1"/>
          </p:cNvSpPr>
          <p:nvPr>
            <p:ph type="title"/>
          </p:nvPr>
        </p:nvSpPr>
        <p:spPr>
          <a:xfrm>
            <a:off x="0" y="0"/>
            <a:ext cx="8310880" cy="6858000"/>
          </a:xfrm>
        </p:spPr>
        <p:txBody>
          <a:bodyPr>
            <a:normAutofit fontScale="90000"/>
          </a:bodyPr>
          <a:lstStyle/>
          <a:p>
            <a:pPr lvl="0"/>
            <a:r>
              <a:rPr lang="en-IN" dirty="0"/>
              <a:t>Top 20 Feature Importances</a:t>
            </a:r>
            <a:br>
              <a:rPr lang="en-IN" dirty="0"/>
            </a:br>
            <a:br>
              <a:rPr lang="en-IN" dirty="0"/>
            </a:br>
            <a:r>
              <a:rPr lang="en-IN" sz="2000" dirty="0"/>
              <a:t>Understanding the Feature Importance Chart</a:t>
            </a:r>
            <a:br>
              <a:rPr lang="en-IN" sz="2000" dirty="0"/>
            </a:br>
            <a:br>
              <a:rPr lang="en-IN" sz="2000" dirty="0"/>
            </a:br>
            <a:r>
              <a:rPr lang="en-IN" sz="1400" dirty="0"/>
              <a:t>This horizontal bar chart displays the </a:t>
            </a:r>
            <a:r>
              <a:rPr lang="en-IN" sz="1400" b="1" dirty="0"/>
              <a:t>top 20 most influential features</a:t>
            </a:r>
            <a:r>
              <a:rPr lang="en-IN" sz="1400" dirty="0"/>
              <a:t> identified by the Random Forest model. Each bar represents a feature, and its length indicates how strongly that feature contributes to predicting whether an employee will change jobs</a:t>
            </a:r>
            <a:r>
              <a:rPr lang="en-IN" sz="2000" dirty="0"/>
              <a:t>.</a:t>
            </a:r>
            <a:br>
              <a:rPr lang="en-IN" sz="2000" dirty="0"/>
            </a:br>
            <a:br>
              <a:rPr lang="en-IN" sz="2000" dirty="0"/>
            </a:br>
            <a:r>
              <a:rPr lang="en-IN" sz="2000" b="1" dirty="0"/>
              <a:t>Key Observations</a:t>
            </a:r>
            <a:br>
              <a:rPr lang="en-IN" sz="2000" b="1" dirty="0"/>
            </a:br>
            <a:br>
              <a:rPr lang="en-IN" sz="2000" b="1" dirty="0"/>
            </a:br>
            <a:r>
              <a:rPr lang="en-IN" sz="2000" b="1" dirty="0"/>
              <a:t>.</a:t>
            </a:r>
            <a:r>
              <a:rPr lang="en-IN" sz="1400" b="1" dirty="0" err="1"/>
              <a:t>training_hours</a:t>
            </a:r>
            <a:r>
              <a:rPr lang="en-IN" sz="1400" dirty="0"/>
              <a:t> is the most important feature, showing the strongest influence on job‑change prediction.</a:t>
            </a:r>
            <a:br>
              <a:rPr lang="en-IN" sz="1400" dirty="0"/>
            </a:br>
            <a:br>
              <a:rPr lang="en-IN" sz="1400" dirty="0"/>
            </a:br>
            <a:r>
              <a:rPr lang="en-IN" sz="1400" dirty="0"/>
              <a:t>.</a:t>
            </a:r>
            <a:r>
              <a:rPr lang="en-IN" sz="1400" b="1" dirty="0" err="1"/>
              <a:t>city_development_index</a:t>
            </a:r>
            <a:r>
              <a:rPr lang="en-IN" sz="1400" dirty="0"/>
              <a:t> is the second most impactful feature, indicating that employees from more developed cities show distinct </a:t>
            </a:r>
            <a:r>
              <a:rPr lang="en-IN" sz="1400" dirty="0" err="1"/>
              <a:t>behavior</a:t>
            </a:r>
            <a:r>
              <a:rPr lang="en-IN" sz="1400" dirty="0"/>
              <a:t>.</a:t>
            </a:r>
            <a:br>
              <a:rPr lang="en-IN" sz="1400" dirty="0"/>
            </a:br>
            <a:br>
              <a:rPr lang="en-IN" sz="1400" dirty="0"/>
            </a:br>
            <a:r>
              <a:rPr lang="en-IN" sz="1400" dirty="0"/>
              <a:t>.Several </a:t>
            </a:r>
            <a:r>
              <a:rPr lang="en-IN" sz="1400" b="1" dirty="0"/>
              <a:t>one‑hot encoded city categories</a:t>
            </a:r>
            <a:r>
              <a:rPr lang="en-IN" sz="1400" dirty="0"/>
              <a:t> (like </a:t>
            </a:r>
            <a:r>
              <a:rPr lang="en-IN" sz="1400" i="1" dirty="0"/>
              <a:t>city_city_21</a:t>
            </a:r>
            <a:r>
              <a:rPr lang="en-IN" sz="1400" dirty="0"/>
              <a:t>, </a:t>
            </a:r>
            <a:r>
              <a:rPr lang="en-IN" sz="1400" i="1" dirty="0"/>
              <a:t>city_city_103</a:t>
            </a:r>
            <a:r>
              <a:rPr lang="en-IN" sz="1400" dirty="0"/>
              <a:t>) also contribute significantly.</a:t>
            </a:r>
            <a:br>
              <a:rPr lang="en-IN" sz="1400" dirty="0"/>
            </a:br>
            <a:br>
              <a:rPr lang="en-IN" sz="1400" dirty="0"/>
            </a:br>
            <a:r>
              <a:rPr lang="en-IN" sz="1400" dirty="0"/>
              <a:t>.</a:t>
            </a:r>
            <a:r>
              <a:rPr lang="en-IN" sz="1400" b="1" dirty="0"/>
              <a:t>Company size</a:t>
            </a:r>
            <a:r>
              <a:rPr lang="en-IN" sz="1400" dirty="0"/>
              <a:t>, </a:t>
            </a:r>
            <a:r>
              <a:rPr lang="en-IN" sz="1400" b="1" dirty="0"/>
              <a:t>last new job</a:t>
            </a:r>
            <a:r>
              <a:rPr lang="en-IN" sz="1400" dirty="0"/>
              <a:t>, and </a:t>
            </a:r>
            <a:r>
              <a:rPr lang="en-IN" sz="1400" b="1" dirty="0"/>
              <a:t>education level</a:t>
            </a:r>
            <a:r>
              <a:rPr lang="en-IN" sz="1400" dirty="0"/>
              <a:t> features appear prominently, showing their relevance in employee decision patterns.</a:t>
            </a:r>
            <a:br>
              <a:rPr lang="en-IN" sz="1400" dirty="0"/>
            </a:br>
            <a:br>
              <a:rPr lang="en-IN" sz="1400" dirty="0"/>
            </a:br>
            <a:r>
              <a:rPr lang="en-IN" sz="1400" dirty="0"/>
              <a:t>.Experience‑related features (e.g., </a:t>
            </a:r>
            <a:r>
              <a:rPr lang="en-IN" sz="1400" i="1" dirty="0"/>
              <a:t>experience_&gt;20</a:t>
            </a:r>
            <a:r>
              <a:rPr lang="en-IN" sz="1400" dirty="0"/>
              <a:t>, </a:t>
            </a:r>
            <a:r>
              <a:rPr lang="en-IN" sz="1400" i="1" dirty="0"/>
              <a:t>experience_5</a:t>
            </a:r>
            <a:r>
              <a:rPr lang="en-IN" sz="1400" dirty="0"/>
              <a:t>, </a:t>
            </a:r>
            <a:r>
              <a:rPr lang="en-IN" sz="1400" i="1" dirty="0"/>
              <a:t>experience_4</a:t>
            </a:r>
            <a:r>
              <a:rPr lang="en-IN" sz="1400" dirty="0"/>
              <a:t>) also play a meaningful role</a:t>
            </a:r>
            <a:br>
              <a:rPr lang="en-IN" sz="2000" dirty="0"/>
            </a:br>
            <a:br>
              <a:rPr lang="en-IN" sz="2000" dirty="0"/>
            </a:br>
            <a:br>
              <a:rPr lang="en-IN" sz="2000" dirty="0"/>
            </a:br>
            <a:r>
              <a:rPr lang="en-IN" sz="2000" dirty="0"/>
              <a:t>What This Means</a:t>
            </a:r>
            <a:br>
              <a:rPr lang="en-IN" sz="2000" dirty="0"/>
            </a:br>
            <a:br>
              <a:rPr lang="en-IN" sz="2000" dirty="0"/>
            </a:br>
            <a:r>
              <a:rPr lang="en-IN" sz="2000" dirty="0"/>
              <a:t>.</a:t>
            </a:r>
            <a:r>
              <a:rPr lang="en-IN" sz="1600" dirty="0"/>
              <a:t>The model relies heavily on </a:t>
            </a:r>
            <a:r>
              <a:rPr lang="en-IN" sz="1600" b="1" dirty="0"/>
              <a:t>training activity</a:t>
            </a:r>
            <a:r>
              <a:rPr lang="en-IN" sz="1600" dirty="0"/>
              <a:t>, </a:t>
            </a:r>
            <a:r>
              <a:rPr lang="en-IN" sz="1600" b="1" dirty="0"/>
              <a:t>city development</a:t>
            </a:r>
            <a:r>
              <a:rPr lang="en-IN" sz="1600" dirty="0"/>
              <a:t>, and </a:t>
            </a:r>
            <a:r>
              <a:rPr lang="en-IN" sz="1600" b="1" dirty="0"/>
              <a:t>job history</a:t>
            </a:r>
            <a:r>
              <a:rPr lang="en-IN" sz="1600" dirty="0"/>
              <a:t> to make predictions.</a:t>
            </a:r>
            <a:br>
              <a:rPr lang="en-IN" sz="1600" dirty="0"/>
            </a:br>
            <a:br>
              <a:rPr lang="en-IN" sz="1600" dirty="0"/>
            </a:br>
            <a:r>
              <a:rPr lang="en-IN" sz="1600" dirty="0"/>
              <a:t>.Categorical variables, once one‑hot encoded, provide rich signals that help the model differentiate between employees likely to change jobs and those who are not</a:t>
            </a:r>
            <a:r>
              <a:rPr lang="en-IN" sz="2000" dirty="0"/>
              <a:t>.</a:t>
            </a:r>
            <a:br>
              <a:rPr lang="en-IN" sz="2000" dirty="0"/>
            </a:br>
            <a:endParaRPr lang="en-IN" sz="2000" dirty="0"/>
          </a:p>
        </p:txBody>
      </p:sp>
      <p:pic>
        <p:nvPicPr>
          <p:cNvPr id="5" name="Content Placeholder 4">
            <a:extLst>
              <a:ext uri="{FF2B5EF4-FFF2-40B4-BE49-F238E27FC236}">
                <a16:creationId xmlns:a16="http://schemas.microsoft.com/office/drawing/2014/main" id="{698086F4-E69A-93A4-AF84-697E32A167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12163" y="0"/>
            <a:ext cx="3779837" cy="6857999"/>
          </a:xfrm>
          <a:prstGeom prst="rect">
            <a:avLst/>
          </a:prstGeom>
        </p:spPr>
      </p:pic>
    </p:spTree>
    <p:extLst>
      <p:ext uri="{BB962C8B-B14F-4D97-AF65-F5344CB8AC3E}">
        <p14:creationId xmlns:p14="http://schemas.microsoft.com/office/powerpoint/2010/main" val="3297472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BC25B-5D3E-A251-E255-A662DF0E0A75}"/>
              </a:ext>
            </a:extLst>
          </p:cNvPr>
          <p:cNvSpPr>
            <a:spLocks noGrp="1"/>
          </p:cNvSpPr>
          <p:nvPr>
            <p:ph type="title"/>
          </p:nvPr>
        </p:nvSpPr>
        <p:spPr/>
        <p:txBody>
          <a:bodyPr/>
          <a:lstStyle/>
          <a:p>
            <a:r>
              <a:rPr lang="en-IN" dirty="0"/>
              <a:t>Final Model Training on Full Dataset (</a:t>
            </a:r>
            <a:r>
              <a:rPr lang="en-IN" dirty="0" err="1"/>
              <a:t>LightGBM</a:t>
            </a:r>
            <a:r>
              <a:rPr lang="en-IN" dirty="0"/>
              <a:t>)</a:t>
            </a:r>
          </a:p>
        </p:txBody>
      </p:sp>
      <p:sp>
        <p:nvSpPr>
          <p:cNvPr id="3" name="Content Placeholder 2">
            <a:extLst>
              <a:ext uri="{FF2B5EF4-FFF2-40B4-BE49-F238E27FC236}">
                <a16:creationId xmlns:a16="http://schemas.microsoft.com/office/drawing/2014/main" id="{670BE214-352D-3D33-3BAF-EA2110A5F218}"/>
              </a:ext>
            </a:extLst>
          </p:cNvPr>
          <p:cNvSpPr>
            <a:spLocks noGrp="1"/>
          </p:cNvSpPr>
          <p:nvPr>
            <p:ph idx="1"/>
          </p:nvPr>
        </p:nvSpPr>
        <p:spPr>
          <a:xfrm>
            <a:off x="457200" y="1404528"/>
            <a:ext cx="11277599" cy="5313680"/>
          </a:xfrm>
        </p:spPr>
        <p:txBody>
          <a:bodyPr>
            <a:normAutofit/>
          </a:bodyPr>
          <a:lstStyle/>
          <a:p>
            <a:r>
              <a:rPr lang="en-IN" b="1" dirty="0"/>
              <a:t>1. Full Dataset Preparation</a:t>
            </a:r>
          </a:p>
          <a:p>
            <a:pPr lvl="0"/>
            <a:r>
              <a:rPr lang="en-IN" dirty="0"/>
              <a:t>The complete training dataset is used by recreating </a:t>
            </a:r>
            <a:r>
              <a:rPr lang="en-IN" b="1" dirty="0" err="1"/>
              <a:t>X_full</a:t>
            </a:r>
            <a:r>
              <a:rPr lang="en-IN" dirty="0"/>
              <a:t> (all features except ID and target) and </a:t>
            </a:r>
            <a:r>
              <a:rPr lang="en-IN" b="1" dirty="0" err="1"/>
              <a:t>y_full</a:t>
            </a:r>
            <a:r>
              <a:rPr lang="en-IN" dirty="0"/>
              <a:t> (target column).</a:t>
            </a:r>
          </a:p>
          <a:p>
            <a:pPr lvl="0"/>
            <a:r>
              <a:rPr lang="en-IN" dirty="0"/>
              <a:t>This ensures the final model learns from </a:t>
            </a:r>
            <a:r>
              <a:rPr lang="en-IN" b="1" dirty="0"/>
              <a:t>100% of available </a:t>
            </a:r>
            <a:r>
              <a:rPr lang="en-IN" b="1" dirty="0" err="1"/>
              <a:t>labeled</a:t>
            </a:r>
            <a:r>
              <a:rPr lang="en-IN" b="1" dirty="0"/>
              <a:t> data</a:t>
            </a:r>
            <a:r>
              <a:rPr lang="en-IN" dirty="0"/>
              <a:t>, improving generalization.</a:t>
            </a:r>
          </a:p>
          <a:p>
            <a:r>
              <a:rPr lang="en-IN" b="1" dirty="0"/>
              <a:t>2. Best Model Selection</a:t>
            </a:r>
          </a:p>
          <a:p>
            <a:pPr lvl="0"/>
            <a:r>
              <a:rPr lang="en-IN" dirty="0"/>
              <a:t>Based on earlier model comparison, </a:t>
            </a:r>
            <a:r>
              <a:rPr lang="en-IN" b="1" dirty="0" err="1"/>
              <a:t>LightGBM</a:t>
            </a:r>
            <a:r>
              <a:rPr lang="en-IN" dirty="0"/>
              <a:t> was chosen as the best-performing model.</a:t>
            </a:r>
          </a:p>
          <a:p>
            <a:pPr lvl="0"/>
            <a:r>
              <a:rPr lang="en-IN" dirty="0"/>
              <a:t>It showed the highest </a:t>
            </a:r>
            <a:r>
              <a:rPr lang="en-IN" b="1" dirty="0"/>
              <a:t>ROC‑AUC</a:t>
            </a:r>
            <a:r>
              <a:rPr lang="en-IN" dirty="0"/>
              <a:t> and strong accuracy, making it ideal for final deployment.</a:t>
            </a:r>
          </a:p>
          <a:p>
            <a:r>
              <a:rPr lang="en-IN" b="1" dirty="0"/>
              <a:t>3. Final Pipeline Construction</a:t>
            </a:r>
          </a:p>
          <a:p>
            <a:r>
              <a:rPr lang="en-IN" dirty="0"/>
              <a:t>The final pipeline includes:</a:t>
            </a:r>
          </a:p>
          <a:p>
            <a:pPr lvl="0"/>
            <a:r>
              <a:rPr lang="en-IN" b="1" dirty="0"/>
              <a:t>Preprocessor</a:t>
            </a:r>
            <a:endParaRPr lang="en-IN" dirty="0"/>
          </a:p>
          <a:p>
            <a:pPr lvl="1"/>
            <a:r>
              <a:rPr lang="en-IN" dirty="0"/>
              <a:t>Numeric: median imputation + scaling</a:t>
            </a:r>
          </a:p>
          <a:p>
            <a:pPr lvl="1"/>
            <a:r>
              <a:rPr lang="en-IN" dirty="0"/>
              <a:t>Categorical: frequent imputation + one‑hot encoding</a:t>
            </a:r>
          </a:p>
          <a:p>
            <a:pPr lvl="0"/>
            <a:r>
              <a:rPr lang="en-IN" b="1" dirty="0"/>
              <a:t>SMOTE</a:t>
            </a:r>
            <a:endParaRPr lang="en-IN" dirty="0"/>
          </a:p>
          <a:p>
            <a:pPr lvl="1"/>
            <a:r>
              <a:rPr lang="en-IN" dirty="0"/>
              <a:t>Balances the dataset by oversampling minority class</a:t>
            </a:r>
          </a:p>
          <a:p>
            <a:endParaRPr lang="en-IN" dirty="0"/>
          </a:p>
        </p:txBody>
      </p:sp>
    </p:spTree>
    <p:extLst>
      <p:ext uri="{BB962C8B-B14F-4D97-AF65-F5344CB8AC3E}">
        <p14:creationId xmlns:p14="http://schemas.microsoft.com/office/powerpoint/2010/main" val="4152211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3E1D4-D988-26A7-4CFB-8E5F8DE9A6E3}"/>
              </a:ext>
            </a:extLst>
          </p:cNvPr>
          <p:cNvSpPr>
            <a:spLocks noGrp="1"/>
          </p:cNvSpPr>
          <p:nvPr>
            <p:ph type="title"/>
          </p:nvPr>
        </p:nvSpPr>
        <p:spPr>
          <a:xfrm>
            <a:off x="457200" y="0"/>
            <a:ext cx="11277599" cy="152400"/>
          </a:xfrm>
        </p:spPr>
        <p:txBody>
          <a:bodyPr>
            <a:normAutofit fontScale="90000"/>
          </a:bodyPr>
          <a:lstStyle/>
          <a:p>
            <a:r>
              <a:rPr lang="en-US" dirty="0"/>
              <a:t>-</a:t>
            </a:r>
            <a:endParaRPr lang="en-IN" dirty="0"/>
          </a:p>
        </p:txBody>
      </p:sp>
      <p:sp>
        <p:nvSpPr>
          <p:cNvPr id="3" name="Content Placeholder 2">
            <a:extLst>
              <a:ext uri="{FF2B5EF4-FFF2-40B4-BE49-F238E27FC236}">
                <a16:creationId xmlns:a16="http://schemas.microsoft.com/office/drawing/2014/main" id="{DCE305EF-0502-9133-A23B-85D36BFE6359}"/>
              </a:ext>
            </a:extLst>
          </p:cNvPr>
          <p:cNvSpPr>
            <a:spLocks noGrp="1"/>
          </p:cNvSpPr>
          <p:nvPr>
            <p:ph idx="1"/>
          </p:nvPr>
        </p:nvSpPr>
        <p:spPr>
          <a:xfrm>
            <a:off x="457200" y="152400"/>
            <a:ext cx="11277599" cy="6248400"/>
          </a:xfrm>
        </p:spPr>
        <p:txBody>
          <a:bodyPr/>
          <a:lstStyle/>
          <a:p>
            <a:pPr lvl="0"/>
            <a:r>
              <a:rPr lang="en-IN" b="1" dirty="0" err="1"/>
              <a:t>LightGBM</a:t>
            </a:r>
            <a:r>
              <a:rPr lang="en-IN" b="1" dirty="0"/>
              <a:t> Classifier</a:t>
            </a:r>
            <a:endParaRPr lang="en-IN" dirty="0"/>
          </a:p>
          <a:p>
            <a:pPr lvl="1"/>
            <a:r>
              <a:rPr lang="en-IN" dirty="0"/>
              <a:t>Tuned with parameters:</a:t>
            </a:r>
          </a:p>
          <a:p>
            <a:pPr lvl="2"/>
            <a:r>
              <a:rPr lang="en-IN" dirty="0" err="1"/>
              <a:t>n_estimators</a:t>
            </a:r>
            <a:r>
              <a:rPr lang="en-IN" dirty="0"/>
              <a:t> = 300</a:t>
            </a:r>
          </a:p>
          <a:p>
            <a:pPr lvl="2"/>
            <a:r>
              <a:rPr lang="en-IN" dirty="0" err="1"/>
              <a:t>learning_rate</a:t>
            </a:r>
            <a:r>
              <a:rPr lang="en-IN" dirty="0"/>
              <a:t> = 0.05</a:t>
            </a:r>
          </a:p>
          <a:p>
            <a:pPr lvl="2"/>
            <a:r>
              <a:rPr lang="en-IN" dirty="0"/>
              <a:t>subsample = 0.8</a:t>
            </a:r>
          </a:p>
          <a:p>
            <a:pPr lvl="2"/>
            <a:r>
              <a:rPr lang="en-IN" dirty="0" err="1"/>
              <a:t>colsample_bytree</a:t>
            </a:r>
            <a:r>
              <a:rPr lang="en-IN" dirty="0"/>
              <a:t> = 0.8</a:t>
            </a:r>
          </a:p>
          <a:p>
            <a:pPr lvl="2"/>
            <a:r>
              <a:rPr lang="en-IN" dirty="0" err="1"/>
              <a:t>random_state</a:t>
            </a:r>
            <a:r>
              <a:rPr lang="en-IN" dirty="0"/>
              <a:t> = 42</a:t>
            </a:r>
          </a:p>
          <a:p>
            <a:r>
              <a:rPr lang="en-IN" b="1" dirty="0"/>
              <a:t>4. Model Training</a:t>
            </a:r>
          </a:p>
          <a:p>
            <a:pPr lvl="0"/>
            <a:r>
              <a:rPr lang="en-IN" dirty="0"/>
              <a:t>The pipeline is fitted on the </a:t>
            </a:r>
            <a:r>
              <a:rPr lang="en-IN" b="1" dirty="0"/>
              <a:t>entire dataset (28,762 samples)</a:t>
            </a:r>
            <a:r>
              <a:rPr lang="en-IN" dirty="0"/>
              <a:t>.</a:t>
            </a:r>
          </a:p>
          <a:p>
            <a:pPr lvl="0"/>
            <a:r>
              <a:rPr lang="en-IN" dirty="0" err="1"/>
              <a:t>LightGBM</a:t>
            </a:r>
            <a:r>
              <a:rPr lang="en-IN" dirty="0"/>
              <a:t> logs confirm:</a:t>
            </a:r>
          </a:p>
          <a:p>
            <a:pPr lvl="1"/>
            <a:r>
              <a:rPr lang="en-IN" dirty="0"/>
              <a:t>Balanced positive &amp; negative samples after SMOTE</a:t>
            </a:r>
          </a:p>
          <a:p>
            <a:pPr lvl="1"/>
            <a:r>
              <a:rPr lang="en-IN" dirty="0"/>
              <a:t>159 features used (after one‑hot encoding)</a:t>
            </a:r>
          </a:p>
          <a:p>
            <a:pPr lvl="1"/>
            <a:r>
              <a:rPr lang="en-IN" dirty="0"/>
              <a:t>Efficient multi-threading enabled</a:t>
            </a:r>
          </a:p>
          <a:p>
            <a:pPr lvl="1"/>
            <a:r>
              <a:rPr lang="en-IN" dirty="0"/>
              <a:t>Total bins ≈ 13,789</a:t>
            </a:r>
          </a:p>
          <a:p>
            <a:pPr lvl="0"/>
            <a:r>
              <a:rPr lang="en-IN" dirty="0"/>
              <a:t>The model successfully learns patterns from the fully </a:t>
            </a:r>
            <a:r>
              <a:rPr lang="en-IN" dirty="0" err="1"/>
              <a:t>preprocessed</a:t>
            </a:r>
            <a:r>
              <a:rPr lang="en-IN" dirty="0"/>
              <a:t> and balanced data.</a:t>
            </a:r>
          </a:p>
          <a:p>
            <a:endParaRPr lang="en-IN" dirty="0"/>
          </a:p>
        </p:txBody>
      </p:sp>
    </p:spTree>
    <p:extLst>
      <p:ext uri="{BB962C8B-B14F-4D97-AF65-F5344CB8AC3E}">
        <p14:creationId xmlns:p14="http://schemas.microsoft.com/office/powerpoint/2010/main" val="1823369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073CC-B4CF-C2B0-ED62-83F81E18CFAD}"/>
              </a:ext>
            </a:extLst>
          </p:cNvPr>
          <p:cNvSpPr>
            <a:spLocks noGrp="1"/>
          </p:cNvSpPr>
          <p:nvPr>
            <p:ph type="title"/>
          </p:nvPr>
        </p:nvSpPr>
        <p:spPr/>
        <p:txBody>
          <a:bodyPr/>
          <a:lstStyle/>
          <a:p>
            <a:r>
              <a:rPr lang="en-IN" dirty="0"/>
              <a:t>Final Predictions on Test Data</a:t>
            </a:r>
          </a:p>
        </p:txBody>
      </p:sp>
      <p:sp>
        <p:nvSpPr>
          <p:cNvPr id="3" name="Content Placeholder 2">
            <a:extLst>
              <a:ext uri="{FF2B5EF4-FFF2-40B4-BE49-F238E27FC236}">
                <a16:creationId xmlns:a16="http://schemas.microsoft.com/office/drawing/2014/main" id="{793F545F-13DB-6E94-EA1E-9A3892E24E48}"/>
              </a:ext>
            </a:extLst>
          </p:cNvPr>
          <p:cNvSpPr>
            <a:spLocks noGrp="1"/>
          </p:cNvSpPr>
          <p:nvPr>
            <p:ph idx="1"/>
          </p:nvPr>
        </p:nvSpPr>
        <p:spPr/>
        <p:txBody>
          <a:bodyPr>
            <a:normAutofit fontScale="92500" lnSpcReduction="10000"/>
          </a:bodyPr>
          <a:lstStyle/>
          <a:p>
            <a:r>
              <a:rPr lang="en-IN" b="1" dirty="0"/>
              <a:t>1. Preparing Test Features</a:t>
            </a:r>
          </a:p>
          <a:p>
            <a:pPr lvl="0"/>
            <a:r>
              <a:rPr lang="en-IN" dirty="0"/>
              <a:t>The test dataset contains an ID column (</a:t>
            </a:r>
            <a:r>
              <a:rPr lang="en-IN" dirty="0" err="1"/>
              <a:t>enrollee_id</a:t>
            </a:r>
            <a:r>
              <a:rPr lang="en-IN" dirty="0"/>
              <a:t>) which is removed before prediction.</a:t>
            </a:r>
          </a:p>
          <a:p>
            <a:pPr lvl="0"/>
            <a:r>
              <a:rPr lang="en-IN" dirty="0"/>
              <a:t>Remaining columns form </a:t>
            </a:r>
            <a:r>
              <a:rPr lang="en-IN" b="1" dirty="0" err="1"/>
              <a:t>X_test</a:t>
            </a:r>
            <a:r>
              <a:rPr lang="en-IN" dirty="0"/>
              <a:t>, which is passed through the final trained pipeline.</a:t>
            </a:r>
          </a:p>
          <a:p>
            <a:r>
              <a:rPr lang="en-IN" b="1" dirty="0"/>
              <a:t>2. Generating Predictions</a:t>
            </a:r>
          </a:p>
          <a:p>
            <a:pPr lvl="0"/>
            <a:r>
              <a:rPr lang="en-IN" dirty="0"/>
              <a:t>The final </a:t>
            </a:r>
            <a:r>
              <a:rPr lang="en-IN" dirty="0" err="1"/>
              <a:t>LightGBM</a:t>
            </a:r>
            <a:r>
              <a:rPr lang="en-IN" dirty="0"/>
              <a:t> pipeline (</a:t>
            </a:r>
            <a:r>
              <a:rPr lang="en-IN" dirty="0" err="1"/>
              <a:t>final_clf</a:t>
            </a:r>
            <a:r>
              <a:rPr lang="en-IN" dirty="0"/>
              <a:t>) predicts:</a:t>
            </a:r>
          </a:p>
          <a:p>
            <a:pPr lvl="1"/>
            <a:r>
              <a:rPr lang="en-IN" b="1" dirty="0"/>
              <a:t>Class labels</a:t>
            </a:r>
            <a:r>
              <a:rPr lang="en-IN" dirty="0"/>
              <a:t> → </a:t>
            </a:r>
            <a:r>
              <a:rPr lang="en-IN" dirty="0" err="1"/>
              <a:t>test_pred</a:t>
            </a:r>
            <a:endParaRPr lang="en-IN" dirty="0"/>
          </a:p>
          <a:p>
            <a:pPr lvl="1"/>
            <a:r>
              <a:rPr lang="en-IN" b="1" dirty="0"/>
              <a:t>Probabilities</a:t>
            </a:r>
            <a:r>
              <a:rPr lang="en-IN" dirty="0"/>
              <a:t> → </a:t>
            </a:r>
            <a:r>
              <a:rPr lang="en-IN" dirty="0" err="1"/>
              <a:t>test_proba</a:t>
            </a:r>
            <a:r>
              <a:rPr lang="en-IN" dirty="0"/>
              <a:t> (optional, useful for ranking or threshold tuning)</a:t>
            </a:r>
          </a:p>
          <a:p>
            <a:r>
              <a:rPr lang="en-IN" b="1" dirty="0"/>
              <a:t>3. Creating Submission File</a:t>
            </a:r>
          </a:p>
          <a:p>
            <a:r>
              <a:rPr lang="en-IN" dirty="0"/>
              <a:t>A submission </a:t>
            </a:r>
            <a:r>
              <a:rPr lang="en-IN" dirty="0" err="1"/>
              <a:t>DataFrame</a:t>
            </a:r>
            <a:r>
              <a:rPr lang="en-IN" dirty="0"/>
              <a:t> is created with:</a:t>
            </a:r>
          </a:p>
          <a:p>
            <a:pPr lvl="0"/>
            <a:r>
              <a:rPr lang="en-IN" b="1" dirty="0" err="1"/>
              <a:t>enrollee_id</a:t>
            </a:r>
            <a:endParaRPr lang="en-IN" dirty="0"/>
          </a:p>
          <a:p>
            <a:pPr lvl="0"/>
            <a:r>
              <a:rPr lang="en-IN" b="1" dirty="0"/>
              <a:t>target</a:t>
            </a:r>
            <a:r>
              <a:rPr lang="en-IN" dirty="0"/>
              <a:t> (predicted class)</a:t>
            </a:r>
          </a:p>
          <a:p>
            <a:r>
              <a:rPr lang="en-IN" dirty="0"/>
              <a:t>This matches the required format for Kaggle/competition submissions.</a:t>
            </a:r>
          </a:p>
          <a:p>
            <a:r>
              <a:rPr lang="en-IN" b="1" dirty="0"/>
              <a:t>4. Output (Head of Submission File)</a:t>
            </a:r>
          </a:p>
          <a:p>
            <a:endParaRPr lang="en-IN" dirty="0"/>
          </a:p>
        </p:txBody>
      </p:sp>
    </p:spTree>
    <p:extLst>
      <p:ext uri="{BB962C8B-B14F-4D97-AF65-F5344CB8AC3E}">
        <p14:creationId xmlns:p14="http://schemas.microsoft.com/office/powerpoint/2010/main" val="3875123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761C3-BC95-2898-D93B-4BD5B8F98F28}"/>
              </a:ext>
            </a:extLst>
          </p:cNvPr>
          <p:cNvSpPr>
            <a:spLocks noGrp="1"/>
          </p:cNvSpPr>
          <p:nvPr>
            <p:ph type="title"/>
          </p:nvPr>
        </p:nvSpPr>
        <p:spPr/>
        <p:txBody>
          <a:bodyPr>
            <a:normAutofit/>
          </a:bodyPr>
          <a:lstStyle/>
          <a:p>
            <a:r>
              <a:rPr lang="en-IN" sz="1600" dirty="0"/>
              <a:t>The first few rows look like:</a:t>
            </a:r>
          </a:p>
        </p:txBody>
      </p:sp>
      <p:pic>
        <p:nvPicPr>
          <p:cNvPr id="5" name="Content Placeholder 4">
            <a:extLst>
              <a:ext uri="{FF2B5EF4-FFF2-40B4-BE49-F238E27FC236}">
                <a16:creationId xmlns:a16="http://schemas.microsoft.com/office/drawing/2014/main" id="{53ED975B-03E4-1CA4-2713-320139EC32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198880"/>
            <a:ext cx="9621520" cy="2692400"/>
          </a:xfrm>
          <a:prstGeom prst="rect">
            <a:avLst/>
          </a:prstGeom>
        </p:spPr>
      </p:pic>
    </p:spTree>
    <p:extLst>
      <p:ext uri="{BB962C8B-B14F-4D97-AF65-F5344CB8AC3E}">
        <p14:creationId xmlns:p14="http://schemas.microsoft.com/office/powerpoint/2010/main" val="7231607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28642-DEAE-28E9-3A67-7F2B0215A1A1}"/>
              </a:ext>
            </a:extLst>
          </p:cNvPr>
          <p:cNvSpPr>
            <a:spLocks noGrp="1"/>
          </p:cNvSpPr>
          <p:nvPr>
            <p:ph type="title"/>
          </p:nvPr>
        </p:nvSpPr>
        <p:spPr/>
        <p:txBody>
          <a:bodyPr>
            <a:normAutofit fontScale="90000"/>
          </a:bodyPr>
          <a:lstStyle/>
          <a:p>
            <a:r>
              <a:rPr lang="en-IN" b="1" dirty="0"/>
              <a:t>Saving Final Predictions &amp; Model Export</a:t>
            </a:r>
            <a:br>
              <a:rPr lang="en-IN" b="1" dirty="0"/>
            </a:br>
            <a:endParaRPr lang="en-IN" dirty="0"/>
          </a:p>
        </p:txBody>
      </p:sp>
      <p:sp>
        <p:nvSpPr>
          <p:cNvPr id="3" name="Content Placeholder 2">
            <a:extLst>
              <a:ext uri="{FF2B5EF4-FFF2-40B4-BE49-F238E27FC236}">
                <a16:creationId xmlns:a16="http://schemas.microsoft.com/office/drawing/2014/main" id="{E217CF21-9088-F7AA-FD6F-7F74C0432948}"/>
              </a:ext>
            </a:extLst>
          </p:cNvPr>
          <p:cNvSpPr>
            <a:spLocks noGrp="1"/>
          </p:cNvSpPr>
          <p:nvPr>
            <p:ph idx="1"/>
          </p:nvPr>
        </p:nvSpPr>
        <p:spPr>
          <a:xfrm>
            <a:off x="457200" y="1127760"/>
            <a:ext cx="11277599" cy="5273040"/>
          </a:xfrm>
        </p:spPr>
        <p:txBody>
          <a:bodyPr/>
          <a:lstStyle/>
          <a:p>
            <a:r>
              <a:rPr lang="en-IN" b="1" dirty="0"/>
              <a:t>1. Exporting Test Predictions</a:t>
            </a:r>
          </a:p>
          <a:p>
            <a:pPr lvl="0"/>
            <a:r>
              <a:rPr lang="en-IN" dirty="0"/>
              <a:t>The final predictions generated on the test dataset are saved into a CSV file: test_predictions.csv</a:t>
            </a:r>
          </a:p>
          <a:p>
            <a:pPr lvl="0"/>
            <a:r>
              <a:rPr lang="en-IN" dirty="0"/>
              <a:t>This file contains two columns:</a:t>
            </a:r>
          </a:p>
          <a:p>
            <a:pPr lvl="1"/>
            <a:r>
              <a:rPr lang="en-IN" dirty="0" err="1"/>
              <a:t>enrollee_id</a:t>
            </a:r>
            <a:endParaRPr lang="en-IN" dirty="0"/>
          </a:p>
          <a:p>
            <a:pPr lvl="1"/>
            <a:r>
              <a:rPr lang="en-IN" dirty="0"/>
              <a:t>target (model‑predicted class)</a:t>
            </a:r>
          </a:p>
          <a:p>
            <a:pPr lvl="0"/>
            <a:r>
              <a:rPr lang="en-IN" dirty="0"/>
              <a:t>This CSV is ready for submission or deployment.</a:t>
            </a:r>
          </a:p>
          <a:p>
            <a:r>
              <a:rPr lang="en-IN" b="1" dirty="0"/>
              <a:t>2. Saving the Trained Model</a:t>
            </a:r>
          </a:p>
          <a:p>
            <a:pPr lvl="0"/>
            <a:r>
              <a:rPr lang="en-IN" dirty="0"/>
              <a:t>The complete pipeline (preprocessing + SMOTE + </a:t>
            </a:r>
            <a:r>
              <a:rPr lang="en-IN" dirty="0" err="1"/>
              <a:t>LightGBM</a:t>
            </a:r>
            <a:r>
              <a:rPr lang="en-IN" dirty="0"/>
              <a:t>) is saved as a .</a:t>
            </a:r>
            <a:r>
              <a:rPr lang="en-IN" dirty="0" err="1"/>
              <a:t>pkl</a:t>
            </a:r>
            <a:r>
              <a:rPr lang="en-IN" dirty="0"/>
              <a:t> file using </a:t>
            </a:r>
            <a:r>
              <a:rPr lang="en-IN" dirty="0" err="1"/>
              <a:t>joblib.dump</a:t>
            </a:r>
            <a:r>
              <a:rPr lang="en-IN" dirty="0"/>
              <a:t>.</a:t>
            </a:r>
          </a:p>
          <a:p>
            <a:pPr lvl="0"/>
            <a:r>
              <a:rPr lang="en-IN" dirty="0"/>
              <a:t>File name: </a:t>
            </a:r>
            <a:r>
              <a:rPr lang="en-IN" dirty="0" err="1"/>
              <a:t>best_model_lgbm.pkl</a:t>
            </a:r>
            <a:endParaRPr lang="en-IN" dirty="0"/>
          </a:p>
          <a:p>
            <a:pPr lvl="0"/>
            <a:r>
              <a:rPr lang="en-IN" dirty="0"/>
              <a:t>This allows the model to be reused later without retraining — ideal for production or API deployment.</a:t>
            </a:r>
          </a:p>
          <a:p>
            <a:r>
              <a:rPr lang="en-IN" b="1" dirty="0"/>
              <a:t>3. Why This Step Matters</a:t>
            </a:r>
          </a:p>
          <a:p>
            <a:pPr lvl="0"/>
            <a:r>
              <a:rPr lang="en-IN" dirty="0"/>
              <a:t>Ensures reproducibility and portability of the final model.</a:t>
            </a:r>
          </a:p>
          <a:p>
            <a:pPr lvl="0"/>
            <a:r>
              <a:rPr lang="en-IN" dirty="0"/>
              <a:t>Makes it easy to load the trained model and generate predictions on new incoming data.</a:t>
            </a:r>
          </a:p>
          <a:p>
            <a:pPr lvl="0"/>
            <a:r>
              <a:rPr lang="en-IN" dirty="0"/>
              <a:t>Keeps your workflow clean and professional, matching industry standards.</a:t>
            </a:r>
          </a:p>
          <a:p>
            <a:endParaRPr lang="en-IN" b="1" dirty="0"/>
          </a:p>
        </p:txBody>
      </p:sp>
    </p:spTree>
    <p:extLst>
      <p:ext uri="{BB962C8B-B14F-4D97-AF65-F5344CB8AC3E}">
        <p14:creationId xmlns:p14="http://schemas.microsoft.com/office/powerpoint/2010/main" val="1852065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E03CE-E65F-7E04-812C-FB07B9E07D56}"/>
              </a:ext>
            </a:extLst>
          </p:cNvPr>
          <p:cNvSpPr>
            <a:spLocks noGrp="1"/>
          </p:cNvSpPr>
          <p:nvPr>
            <p:ph type="title"/>
          </p:nvPr>
        </p:nvSpPr>
        <p:spPr/>
        <p:txBody>
          <a:bodyPr>
            <a:normAutofit fontScale="90000"/>
          </a:bodyPr>
          <a:lstStyle/>
          <a:p>
            <a:r>
              <a:rPr lang="en-IN" b="1" dirty="0"/>
              <a:t>Saving Predictions &amp; Exporting Final Model</a:t>
            </a:r>
            <a:br>
              <a:rPr lang="en-IN" b="1" dirty="0"/>
            </a:br>
            <a:endParaRPr lang="en-IN" dirty="0"/>
          </a:p>
        </p:txBody>
      </p:sp>
      <p:sp>
        <p:nvSpPr>
          <p:cNvPr id="3" name="Content Placeholder 2">
            <a:extLst>
              <a:ext uri="{FF2B5EF4-FFF2-40B4-BE49-F238E27FC236}">
                <a16:creationId xmlns:a16="http://schemas.microsoft.com/office/drawing/2014/main" id="{1D269EEE-0ACE-7ADD-17CD-38F377BED735}"/>
              </a:ext>
            </a:extLst>
          </p:cNvPr>
          <p:cNvSpPr>
            <a:spLocks noGrp="1"/>
          </p:cNvSpPr>
          <p:nvPr>
            <p:ph idx="1"/>
          </p:nvPr>
        </p:nvSpPr>
        <p:spPr>
          <a:xfrm>
            <a:off x="457200" y="1056640"/>
            <a:ext cx="11277599" cy="5720080"/>
          </a:xfrm>
        </p:spPr>
        <p:txBody>
          <a:bodyPr/>
          <a:lstStyle/>
          <a:p>
            <a:r>
              <a:rPr lang="en-IN" b="1" dirty="0"/>
              <a:t>1. Creating the Models Folder</a:t>
            </a:r>
          </a:p>
          <a:p>
            <a:pPr lvl="0"/>
            <a:r>
              <a:rPr lang="en-IN" dirty="0"/>
              <a:t>A new directory named models/ is created inside the project using: </a:t>
            </a:r>
            <a:r>
              <a:rPr lang="en-IN" dirty="0" err="1"/>
              <a:t>os.makedirs</a:t>
            </a:r>
            <a:r>
              <a:rPr lang="en-IN" dirty="0"/>
              <a:t>("models", </a:t>
            </a:r>
            <a:r>
              <a:rPr lang="en-IN" dirty="0" err="1"/>
              <a:t>exist_ok</a:t>
            </a:r>
            <a:r>
              <a:rPr lang="en-IN" dirty="0"/>
              <a:t>=True)</a:t>
            </a:r>
          </a:p>
          <a:p>
            <a:pPr lvl="0"/>
            <a:r>
              <a:rPr lang="en-IN" dirty="0" err="1"/>
              <a:t>exist_ok</a:t>
            </a:r>
            <a:r>
              <a:rPr lang="en-IN" dirty="0"/>
              <a:t>=True ensures the code does not throw an error if the folder already exists.</a:t>
            </a:r>
          </a:p>
          <a:p>
            <a:r>
              <a:rPr lang="en-IN" b="1" dirty="0"/>
              <a:t>2. Saving Test Predictions</a:t>
            </a:r>
          </a:p>
          <a:p>
            <a:pPr lvl="0"/>
            <a:r>
              <a:rPr lang="en-IN" dirty="0"/>
              <a:t>The final predictions generated on the test dataset are saved as: models/test_predictions.csv</a:t>
            </a:r>
          </a:p>
          <a:p>
            <a:pPr lvl="0"/>
            <a:r>
              <a:rPr lang="en-IN" dirty="0"/>
              <a:t>This CSV contains:</a:t>
            </a:r>
          </a:p>
          <a:p>
            <a:pPr lvl="1"/>
            <a:r>
              <a:rPr lang="en-IN" dirty="0" err="1"/>
              <a:t>enrollee_id</a:t>
            </a:r>
            <a:endParaRPr lang="en-IN" dirty="0"/>
          </a:p>
          <a:p>
            <a:pPr lvl="1"/>
            <a:r>
              <a:rPr lang="en-IN" dirty="0"/>
              <a:t>target (model‑predicted class)</a:t>
            </a:r>
          </a:p>
          <a:p>
            <a:r>
              <a:rPr lang="en-IN" b="1" dirty="0"/>
              <a:t>3. Exporting the Final Trained Model</a:t>
            </a:r>
          </a:p>
          <a:p>
            <a:pPr lvl="0"/>
            <a:r>
              <a:rPr lang="en-IN" dirty="0"/>
              <a:t>The complete pipeline (preprocessing + SMOTE + </a:t>
            </a:r>
            <a:r>
              <a:rPr lang="en-IN" dirty="0" err="1"/>
              <a:t>LightGBM</a:t>
            </a:r>
            <a:r>
              <a:rPr lang="en-IN" dirty="0"/>
              <a:t>) is saved using </a:t>
            </a:r>
            <a:r>
              <a:rPr lang="en-IN" dirty="0" err="1"/>
              <a:t>joblib</a:t>
            </a:r>
            <a:r>
              <a:rPr lang="en-IN" dirty="0"/>
              <a:t>: models/</a:t>
            </a:r>
            <a:r>
              <a:rPr lang="en-IN" dirty="0" err="1"/>
              <a:t>best_model_lgbm.pkl</a:t>
            </a:r>
            <a:endParaRPr lang="en-IN" dirty="0"/>
          </a:p>
          <a:p>
            <a:pPr lvl="0"/>
            <a:r>
              <a:rPr lang="en-IN" dirty="0"/>
              <a:t>This allows the model to be reused later without retraining — ideal for deployment or API integration.</a:t>
            </a:r>
          </a:p>
          <a:p>
            <a:r>
              <a:rPr lang="en-IN" b="1" dirty="0"/>
              <a:t>4. Confirmation Message</a:t>
            </a:r>
          </a:p>
          <a:p>
            <a:pPr lvl="0"/>
            <a:r>
              <a:rPr lang="en-IN" dirty="0"/>
              <a:t>After saving both files, the script prints: </a:t>
            </a:r>
            <a:r>
              <a:rPr lang="en-IN" b="1" dirty="0"/>
              <a:t>“Saved successfully!”</a:t>
            </a:r>
            <a:endParaRPr lang="en-IN" dirty="0"/>
          </a:p>
          <a:p>
            <a:pPr lvl="0"/>
            <a:r>
              <a:rPr lang="en-IN" dirty="0"/>
              <a:t>This confirms that the export process completed without errors.</a:t>
            </a:r>
          </a:p>
          <a:p>
            <a:endParaRPr lang="en-IN" dirty="0"/>
          </a:p>
        </p:txBody>
      </p:sp>
    </p:spTree>
    <p:extLst>
      <p:ext uri="{BB962C8B-B14F-4D97-AF65-F5344CB8AC3E}">
        <p14:creationId xmlns:p14="http://schemas.microsoft.com/office/powerpoint/2010/main" val="579686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8BC-ED9D-0946-DB89-A2767A90A585}"/>
              </a:ext>
            </a:extLst>
          </p:cNvPr>
          <p:cNvSpPr>
            <a:spLocks noGrp="1"/>
          </p:cNvSpPr>
          <p:nvPr>
            <p:ph type="ctrTitle"/>
          </p:nvPr>
        </p:nvSpPr>
        <p:spPr/>
        <p:txBody>
          <a:bodyPr/>
          <a:lstStyle/>
          <a:p>
            <a:r>
              <a:rPr lang="en-IN"/>
              <a:t>Thank You!</a:t>
            </a:r>
            <a:endParaRPr lang="en-IN" dirty="0"/>
          </a:p>
        </p:txBody>
      </p:sp>
      <p:sp>
        <p:nvSpPr>
          <p:cNvPr id="3" name="Subtitle 2">
            <a:extLst>
              <a:ext uri="{FF2B5EF4-FFF2-40B4-BE49-F238E27FC236}">
                <a16:creationId xmlns:a16="http://schemas.microsoft.com/office/drawing/2014/main" id="{3993784A-9FE2-D9E2-1552-F9900149D501}"/>
              </a:ext>
            </a:extLst>
          </p:cNvPr>
          <p:cNvSpPr>
            <a:spLocks noGrp="1"/>
          </p:cNvSpPr>
          <p:nvPr>
            <p:ph type="subTitle" idx="1"/>
          </p:nvPr>
        </p:nvSpPr>
        <p:spPr/>
        <p:txBody>
          <a:bodyPr/>
          <a:lstStyle/>
          <a:p>
            <a:r>
              <a:rPr lang="en-IN" dirty="0"/>
              <a:t>Thank You for Your Time!</a:t>
            </a:r>
          </a:p>
        </p:txBody>
      </p:sp>
    </p:spTree>
    <p:extLst>
      <p:ext uri="{BB962C8B-B14F-4D97-AF65-F5344CB8AC3E}">
        <p14:creationId xmlns:p14="http://schemas.microsoft.com/office/powerpoint/2010/main" val="3268107425"/>
      </p:ext>
    </p:extLst>
  </p:cSld>
  <p:clrMapOvr>
    <a:masterClrMapping/>
  </p:clrMapOvr>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ac_SD_V5 (Prismatic Polygons).pptx" id="{B385A2A1-EF3F-4C3B-9DAC-1996EB6D3A54}" vid="{B3C5DF8C-E290-4834-9BBD-6D53C49DE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{2C7977F2-4BD2-42A4-8EE8-395F6C5BB3A1}76eb6e63-359a-49aa-b46c-7c5b67ea33bb-TF1ddfefa5-03ef-44f0-b9f8-5e27349af6c5_win32</Template>
  <TotalTime>288</TotalTime>
  <Words>3610</Words>
  <Application>Microsoft Office PowerPoint</Application>
  <PresentationFormat>Widescreen</PresentationFormat>
  <Paragraphs>299</Paragraphs>
  <Slides>35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Light</vt:lpstr>
      <vt:lpstr>Arial</vt:lpstr>
      <vt:lpstr>Chamberi Super Display</vt:lpstr>
      <vt:lpstr>Prismatic polygons</vt:lpstr>
      <vt:lpstr>Employee Retention Prediction</vt:lpstr>
      <vt:lpstr>Project Overview </vt:lpstr>
      <vt:lpstr>Business Problem</vt:lpstr>
      <vt:lpstr>Dataset Description</vt:lpstr>
      <vt:lpstr>EDA Insights</vt:lpstr>
      <vt:lpstr>Data Preprocessing </vt:lpstr>
      <vt:lpstr>- </vt:lpstr>
      <vt:lpstr>- </vt:lpstr>
      <vt:lpstr>Categorical Feature Distribution   1. Gender Distribution                                                     2.Relevant Experience                                                                       3. Enrolled University Status  .Majority of employees are Male (highest bar).                    . Most employees have relevant experience (very tall bar).                 . Majority of employees have no university enrollment.   . Female employees are significantly fewer.                          . Employees with no relevant experience are much fewer.                  . A smaller portion is enrolled in full‑time courses.  . Other category is almost negligible.                                       . Shows that relevant experience is common in this dataset.              . Part‑time course enrollment is the least.  . Indicates dataset is gender‑imbalanced.                                                                                                                                                                       . Suggests most employees are not currently pursuing-                                                                                                                                                                                                                                                                - formal education.</vt:lpstr>
      <vt:lpstr>Categorical Feature Distribution  1. Education Level Distribution                                                         2. Major Discipline Distribution                                                 3. Company Size Distribution  . Most employees are Graduates (highest bar).                        . STEM is the overwhelmingly dominant discipline          . STEM is the overwhelmingly dominant discipline.  . A significant number hold Masters degrees.                           . Other fields like Business, Arts, Humanities, and-           . Highest count is in 50–99 employees category.                                                                                                                            - No Major have very low counts  . High School and PhD categories are much smaller.           . Shows that the dataset mainly consists of techni-            . 100–500 and 10000+ also have significant repre-                                                                                                                             - cal backgrounds.                                                                             -sentation.  . Primary School has the lowest count.                                                                                                                                                             . Smaller companies (&lt;10, 10–49) and mid‑range                                                                                                                                                                                                                                                 -companies (500–999, 1000–4999) have moderate counts.  . Indicates that the dataset is dominated by well‑                                                                                                                                       . Indicates diverse company size distribution in the dataset.  - educated professionals</vt:lpstr>
      <vt:lpstr>Transition to Target-Based Comparison</vt:lpstr>
      <vt:lpstr>1. Relevant Experience vs Target                                                                  2. University Enrollment vs Target  . Employees with relevant experience mostly fall under target = 0 (not look-             . Majority of employees with no university enrollment belong to target = 0.  - ing for job change).  . A smaller portion with relevant experience belong to target = 1 (likely to-                  . Employees enrolled in full‑time courses show a slightly higher tendency toward   - change job).                                                                                                                                                 - target = 1.  . Employees with no relevant experience show a higher proportion of job‑                 . Part‑time course enrollment also shows mixed distribution but mostly target = 0  - change intention compared to those with experience.  . This indicates that lack of relevant experience increases the probability                    . This suggests that employees pursuing education (full‑time or part‑time) may  of job change.                                                                                                                                                 - be more open to job change.</vt:lpstr>
      <vt:lpstr>3. Education Level vs Target                                                                           4. Company Type vs Target  . Most employees are Graduates, followed by Masters.                                                            . Majority of employees work in Pvt Ltd companies.  . Across all education levels, target = 0 (not looking for job change) is sig-                    . Other company types like Funded Startup, Early Stage Startup, Public Sector,   - nificantly higher than target = 1.                                                                                                         - NGO, and Other have much smaller counts.  . Higher education levels (Masters, PhD) still show lower job‑change int-                     . In every company type, target = 0 is higher than target = 1, showing low jod-  -ention                                                                                                                                                              - change intention overall.  . Indicates that education level does not strongly drive job‑change beh-                        . Slightly higher job‑change tendency appears in startups, but still lower than ta-  -avior — most groups remain stable.                                                                                                  -rget 0.  </vt:lpstr>
      <vt:lpstr>Numerical features distribution</vt:lpstr>
      <vt:lpstr>Numerical features distribution  1. City Development Index                                                                  2. Training Hours . The histogram shows the spread of city development index values rang-                   . The distribution of training hours is right‑skewed. -ing roughly from 0.45 to 0.95.  . Two major peaks are visible — one around 0.6 and another near 0.9.                           . Most employees have completed less than 100 hours of training.  . This indicates that employees mostly come from moderately developed                    . Very few employees have training hours above 200–300.  and highly developed cities.  . The distribution is not uniform, showing clear clustering in specific dev-                   . This suggests that training participation is generally low, with only a small gr-  elopment ranges.                                                                                                                                         -oup investing heavily in training.</vt:lpstr>
      <vt:lpstr>Comparison of Numerical Features with Target Variable  1. City Development Index vs Target                                             2. Training Hours vs Target  . The box plot compares city development index values for employees who               . Training hours for both target groups show a similar median around 50 hours.  are not looking for a job change (target = 0) and those who are looking for  a job change (target = 1).  . Both groups have values mostly between 0.5 and 0.95, but target = 0 shows              . The distribution is wide, ranging from 0 to 350 hours, with many outliers above   a slightly higher median.                                                                                                                          200  . There are several lower outliers for target = 0, indicating some employees                . Both groups have similar patterns, suggesting that training hours do not  from less developed cities.                                                                                                                      strongly differentiate job‑change behavior.  . Overall, employees from more developed cities tend to be more stable, but              . High training hours appear in both categories, indicating mixed motivation levels.   the difference is not very large.</vt:lpstr>
      <vt:lpstr>Preprocessing setup</vt:lpstr>
      <vt:lpstr>Preprocessing Pipeline</vt:lpstr>
      <vt:lpstr>Train–Validation Split</vt:lpstr>
      <vt:lpstr>Class Imbalance Check</vt:lpstr>
      <vt:lpstr>Model Training &amp; Evaluation Function</vt:lpstr>
      <vt:lpstr>-</vt:lpstr>
      <vt:lpstr>Models Used</vt:lpstr>
      <vt:lpstr>Model Performance Comparison</vt:lpstr>
      <vt:lpstr>Feature Importance (Random Forest) – Results Included </vt:lpstr>
      <vt:lpstr>Top Feature Importance Results</vt:lpstr>
      <vt:lpstr>- </vt:lpstr>
      <vt:lpstr>Top 20 Feature Importances  Understanding the Feature Importance Chart  This horizontal bar chart displays the top 20 most influential features identified by the Random Forest model. Each bar represents a feature, and its length indicates how strongly that feature contributes to predicting whether an employee will change jobs.  Key Observations  .training_hours is the most important feature, showing the strongest influence on job‑change prediction.  .city_development_index is the second most impactful feature, indicating that employees from more developed cities show distinct behavior.  .Several one‑hot encoded city categories (like city_city_21, city_city_103) also contribute significantly.  .Company size, last new job, and education level features appear prominently, showing their relevance in employee decision patterns.  .Experience‑related features (e.g., experience_&gt;20, experience_5, experience_4) also play a meaningful role   What This Means  .The model relies heavily on training activity, city development, and job history to make predictions.  .Categorical variables, once one‑hot encoded, provide rich signals that help the model differentiate between employees likely to change jobs and those who are not. </vt:lpstr>
      <vt:lpstr>Final Model Training on Full Dataset (LightGBM)</vt:lpstr>
      <vt:lpstr>-</vt:lpstr>
      <vt:lpstr>Final Predictions on Test Data</vt:lpstr>
      <vt:lpstr>The first few rows look like:</vt:lpstr>
      <vt:lpstr>Saving Final Predictions &amp; Model Export </vt:lpstr>
      <vt:lpstr>Saving Predictions &amp; Exporting Final Model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Kumar</dc:creator>
  <cp:lastModifiedBy>Harsh Kumar</cp:lastModifiedBy>
  <cp:revision>1</cp:revision>
  <dcterms:created xsi:type="dcterms:W3CDTF">2026-08-01T04:11:42Z</dcterms:created>
  <dcterms:modified xsi:type="dcterms:W3CDTF">2026-08-04T13:03:48Z</dcterms:modified>
</cp:coreProperties>
</file>